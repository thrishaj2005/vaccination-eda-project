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Geist Bold"/>
      <p:regular r:id="rId201314"/>
    </p:embeddedFont>
    <p:embeddedFont>
      <p:font typeface="Geist"/>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620">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5.png"/><Relationship Id="rId8" Type="http://schemas.openxmlformats.org/officeDocument/2006/relationships/image" Target="../media/image-5-6.svg"/><Relationship Id="rId9" Type="http://schemas.openxmlformats.org/officeDocument/2006/relationships/image" Target="../media/image-5-1.png"/><Relationship Id="rId10" Type="http://schemas.openxmlformats.org/officeDocument/2006/relationships/image" Target="../media/image-5-2.svg"/><Relationship Id="rId11" Type="http://schemas.openxmlformats.org/officeDocument/2006/relationships/image" Target="../media/image-5-1.png"/><Relationship Id="rId12" Type="http://schemas.openxmlformats.org/officeDocument/2006/relationships/image" Target="../media/image-5-2.svg"/><Relationship Id="rId13" Type="http://schemas.openxmlformats.org/officeDocument/2006/relationships/image" Target="../media/image-5-1.png"/><Relationship Id="rId14" Type="http://schemas.openxmlformats.org/officeDocument/2006/relationships/image" Target="../media/image-5-2.svg"/><Relationship Id="rId15" Type="http://schemas.openxmlformats.org/officeDocument/2006/relationships/image" Target="../media/image-5-15.png"/><Relationship Id="rId16" Type="http://schemas.openxmlformats.org/officeDocument/2006/relationships/slideLayout" Target="../slideLayouts/slideLayout2.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5.png"/><Relationship Id="rId8" Type="http://schemas.openxmlformats.org/officeDocument/2006/relationships/image" Target="../media/image-9-6.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9.png"/><Relationship Id="rId12" Type="http://schemas.openxmlformats.org/officeDocument/2006/relationships/image" Target="../media/image-9-10.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image" Target="../media/image-9-13.png"/><Relationship Id="rId16" Type="http://schemas.openxmlformats.org/officeDocument/2006/relationships/image" Target="../media/image-9-14.svg"/><Relationship Id="rId17" Type="http://schemas.openxmlformats.org/officeDocument/2006/relationships/slideLayout" Target="../slideLayouts/slideLayout2.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2318544"/>
            <a:ext cx="10868745" cy="537468"/>
          </a:xfrm>
          <a:prstGeom prst="rect">
            <a:avLst/>
          </a:prstGeom>
          <a:noFill/>
          <a:ln/>
        </p:spPr>
        <p:txBody>
          <a:bodyPr wrap="none" lIns="0" tIns="0" rIns="0" bIns="0" rtlCol="0" anchor="t"/>
          <a:lstStyle/>
          <a:p>
            <a:pPr algn="ctr" indent="0" marL="0">
              <a:lnSpc>
                <a:spcPct val="108000"/>
              </a:lnSpc>
              <a:buNone/>
            </a:pPr>
            <a:r>
              <a:rPr lang="en-US" sz="3250" b="1" spc="-65" kern="0" dirty="0">
                <a:solidFill>
                  <a:srgbClr val="F2F5FA"/>
                </a:solidFill>
                <a:latin typeface="Geist Bold" pitchFamily="34" charset="0"/>
                <a:ea typeface="Geist Bold" pitchFamily="34" charset="-122"/>
                <a:cs typeface="Geist Bold" pitchFamily="34" charset="-120"/>
              </a:rPr>
              <a:t>Vaccination Data Analysis and Visualization</a:t>
            </a:r>
            <a:endParaRPr lang="en-US" sz="3250" dirty="0"/>
          </a:p>
        </p:txBody>
      </p:sp>
      <p:sp>
        <p:nvSpPr>
          <p:cNvPr id="3" name="Text 1"/>
          <p:cNvSpPr/>
          <p:nvPr/>
        </p:nvSpPr>
        <p:spPr>
          <a:xfrm>
            <a:off x="356682" y="3186708"/>
            <a:ext cx="11478330" cy="215007"/>
          </a:xfrm>
          <a:prstGeom prst="rect">
            <a:avLst/>
          </a:prstGeom>
          <a:noFill/>
          <a:ln/>
        </p:spPr>
        <p:txBody>
          <a:bodyPr wrap="none" lIns="0" tIns="0" rIns="0" bIns="0" rtlCol="0" anchor="t"/>
          <a:lstStyle/>
          <a:p>
            <a:pPr algn="ctr" indent="0" marL="0">
              <a:lnSpc>
                <a:spcPct val="108000"/>
              </a:lnSpc>
              <a:buNone/>
            </a:pPr>
            <a:r>
              <a:rPr lang="en-US" sz="1300" dirty="0">
                <a:solidFill>
                  <a:srgbClr val="EBEDF0"/>
                </a:solidFill>
                <a:latin typeface="Geist" pitchFamily="34" charset="0"/>
                <a:ea typeface="Geist" pitchFamily="34" charset="-122"/>
                <a:cs typeface="Geist" pitchFamily="34" charset="-120"/>
              </a:rPr>
              <a:t>An Exploratory Data Analysis of Five Vaccination-Related Datasets</a:t>
            </a:r>
            <a:endParaRPr lang="en-US" sz="1300" dirty="0"/>
          </a:p>
        </p:txBody>
      </p:sp>
      <p:sp>
        <p:nvSpPr>
          <p:cNvPr id="4" name="Shape 2"/>
          <p:cNvSpPr/>
          <p:nvPr/>
        </p:nvSpPr>
        <p:spPr>
          <a:xfrm>
            <a:off x="661475" y="3587750"/>
            <a:ext cx="3512653" cy="951706"/>
          </a:xfrm>
          <a:prstGeom prst="roundRect">
            <a:avLst>
              <a:gd name="adj" fmla="val 7299"/>
            </a:avLst>
          </a:prstGeom>
          <a:solidFill>
            <a:srgbClr val="101620"/>
          </a:solidFill>
          <a:ln w="19050">
            <a:solidFill>
              <a:srgbClr val="002A80"/>
            </a:solidFill>
            <a:prstDash val="solid"/>
          </a:ln>
        </p:spPr>
      </p:sp>
      <p:sp>
        <p:nvSpPr>
          <p:cNvPr id="5" name="Text 3"/>
          <p:cNvSpPr/>
          <p:nvPr/>
        </p:nvSpPr>
        <p:spPr>
          <a:xfrm>
            <a:off x="845819" y="3772098"/>
            <a:ext cx="314396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Presented by</a:t>
            </a:r>
            <a:endParaRPr lang="en-US" sz="1600" dirty="0"/>
          </a:p>
        </p:txBody>
      </p:sp>
      <p:sp>
        <p:nvSpPr>
          <p:cNvPr id="6" name="Text 4"/>
          <p:cNvSpPr/>
          <p:nvPr/>
        </p:nvSpPr>
        <p:spPr>
          <a:xfrm>
            <a:off x="845819" y="4140101"/>
            <a:ext cx="3143965" cy="215007"/>
          </a:xfrm>
          <a:prstGeom prst="rect">
            <a:avLst/>
          </a:prstGeom>
          <a:noFill/>
          <a:ln/>
        </p:spPr>
        <p:txBody>
          <a:bodyPr wrap="none" lIns="0" tIns="0" rIns="0" bIns="0" rtlCol="0" anchor="t"/>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Thrisha J</a:t>
            </a:r>
            <a:endParaRPr lang="en-US" sz="1300" dirty="0"/>
          </a:p>
        </p:txBody>
      </p:sp>
      <p:sp>
        <p:nvSpPr>
          <p:cNvPr id="7" name="Shape 5"/>
          <p:cNvSpPr/>
          <p:nvPr/>
        </p:nvSpPr>
        <p:spPr>
          <a:xfrm>
            <a:off x="4339422" y="3587750"/>
            <a:ext cx="3512752" cy="951706"/>
          </a:xfrm>
          <a:prstGeom prst="roundRect">
            <a:avLst>
              <a:gd name="adj" fmla="val 7299"/>
            </a:avLst>
          </a:prstGeom>
          <a:solidFill>
            <a:srgbClr val="101620"/>
          </a:solidFill>
          <a:ln w="19050">
            <a:solidFill>
              <a:srgbClr val="002A80"/>
            </a:solidFill>
            <a:prstDash val="solid"/>
          </a:ln>
        </p:spPr>
      </p:sp>
      <p:sp>
        <p:nvSpPr>
          <p:cNvPr id="8" name="Text 6"/>
          <p:cNvSpPr/>
          <p:nvPr/>
        </p:nvSpPr>
        <p:spPr>
          <a:xfrm>
            <a:off x="4523766" y="3772098"/>
            <a:ext cx="3144064"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Programme</a:t>
            </a:r>
            <a:endParaRPr lang="en-US" sz="1600" dirty="0"/>
          </a:p>
        </p:txBody>
      </p:sp>
      <p:sp>
        <p:nvSpPr>
          <p:cNvPr id="9" name="Text 7"/>
          <p:cNvSpPr/>
          <p:nvPr/>
        </p:nvSpPr>
        <p:spPr>
          <a:xfrm>
            <a:off x="4523766" y="4140101"/>
            <a:ext cx="3144064" cy="215007"/>
          </a:xfrm>
          <a:prstGeom prst="rect">
            <a:avLst/>
          </a:prstGeom>
          <a:noFill/>
          <a:ln/>
        </p:spPr>
        <p:txBody>
          <a:bodyPr wrap="none" lIns="0" tIns="0" rIns="0" bIns="0" rtlCol="0" anchor="t"/>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M.Sc Data Science</a:t>
            </a:r>
            <a:endParaRPr lang="en-US" sz="1300" dirty="0"/>
          </a:p>
        </p:txBody>
      </p:sp>
      <p:sp>
        <p:nvSpPr>
          <p:cNvPr id="10" name="Shape 8"/>
          <p:cNvSpPr/>
          <p:nvPr/>
        </p:nvSpPr>
        <p:spPr>
          <a:xfrm>
            <a:off x="8017468" y="3587750"/>
            <a:ext cx="3512653" cy="951706"/>
          </a:xfrm>
          <a:prstGeom prst="roundRect">
            <a:avLst>
              <a:gd name="adj" fmla="val 7299"/>
            </a:avLst>
          </a:prstGeom>
          <a:solidFill>
            <a:srgbClr val="101620"/>
          </a:solidFill>
          <a:ln w="19050">
            <a:solidFill>
              <a:srgbClr val="002A80"/>
            </a:solidFill>
            <a:prstDash val="solid"/>
          </a:ln>
        </p:spPr>
      </p:sp>
      <p:sp>
        <p:nvSpPr>
          <p:cNvPr id="11" name="Text 9"/>
          <p:cNvSpPr/>
          <p:nvPr/>
        </p:nvSpPr>
        <p:spPr>
          <a:xfrm>
            <a:off x="8201812" y="3772098"/>
            <a:ext cx="314396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Institution</a:t>
            </a:r>
            <a:endParaRPr lang="en-US" sz="1600" dirty="0"/>
          </a:p>
        </p:txBody>
      </p:sp>
      <p:sp>
        <p:nvSpPr>
          <p:cNvPr id="12" name="Text 10"/>
          <p:cNvSpPr/>
          <p:nvPr/>
        </p:nvSpPr>
        <p:spPr>
          <a:xfrm>
            <a:off x="8201812" y="4140101"/>
            <a:ext cx="3143965" cy="215007"/>
          </a:xfrm>
          <a:prstGeom prst="rect">
            <a:avLst/>
          </a:prstGeom>
          <a:noFill/>
          <a:ln/>
        </p:spPr>
        <p:txBody>
          <a:bodyPr wrap="none" lIns="0" tIns="0" rIns="0" bIns="0" rtlCol="0" anchor="t"/>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VIT Vellore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29134"/>
            <a:ext cx="1099118" cy="251420"/>
          </a:xfrm>
          <a:prstGeom prst="roundRect">
            <a:avLst>
              <a:gd name="adj" fmla="val 22103"/>
            </a:avLst>
          </a:prstGeom>
          <a:solidFill>
            <a:srgbClr val="00194D"/>
          </a:solidFill>
          <a:ln/>
        </p:spPr>
      </p:sp>
      <p:sp>
        <p:nvSpPr>
          <p:cNvPr id="3" name="Text 1"/>
          <p:cNvSpPr/>
          <p:nvPr/>
        </p:nvSpPr>
        <p:spPr>
          <a:xfrm>
            <a:off x="760691" y="578743"/>
            <a:ext cx="1510270" cy="152202"/>
          </a:xfrm>
          <a:prstGeom prst="rect">
            <a:avLst/>
          </a:prstGeom>
          <a:noFill/>
          <a:ln/>
        </p:spPr>
        <p:txBody>
          <a:bodyPr wrap="none" lIns="0" tIns="0" rIns="0" bIns="0" rtlCol="0" anchor="t"/>
          <a:lstStyle/>
          <a:p>
            <a:pPr algn="l" indent="0" marL="0">
              <a:lnSpc>
                <a:spcPct val="96000"/>
              </a:lnSpc>
              <a:buNone/>
            </a:pPr>
            <a:r>
              <a:rPr lang="en-US" sz="1000" dirty="0">
                <a:solidFill>
                  <a:srgbClr val="EBEDF0"/>
                </a:solidFill>
                <a:latin typeface="Geist" pitchFamily="34" charset="0"/>
                <a:ea typeface="Geist" pitchFamily="34" charset="-122"/>
                <a:cs typeface="Geist" pitchFamily="34" charset="-120"/>
              </a:rPr>
              <a:t>BACKGROUND</a:t>
            </a:r>
            <a:endParaRPr lang="en-US" sz="1000" dirty="0"/>
          </a:p>
        </p:txBody>
      </p:sp>
      <p:sp>
        <p:nvSpPr>
          <p:cNvPr id="4" name="Text 2"/>
          <p:cNvSpPr/>
          <p:nvPr/>
        </p:nvSpPr>
        <p:spPr>
          <a:xfrm>
            <a:off x="661475" y="846634"/>
            <a:ext cx="10868745" cy="537468"/>
          </a:xfrm>
          <a:prstGeom prst="rect">
            <a:avLst/>
          </a:prstGeom>
          <a:noFill/>
          <a:ln/>
        </p:spPr>
        <p:txBody>
          <a:bodyPr wrap="none" lIns="0" tIns="0" rIns="0" bIns="0" rtlCol="0" anchor="t"/>
          <a:lstStyle/>
          <a:p>
            <a:pPr algn="l" indent="0" marL="0">
              <a:lnSpc>
                <a:spcPct val="108000"/>
              </a:lnSpc>
              <a:buNone/>
            </a:pPr>
            <a:r>
              <a:rPr lang="en-US" sz="3250" b="1" spc="-65" kern="0" dirty="0">
                <a:solidFill>
                  <a:srgbClr val="F2F5FA"/>
                </a:solidFill>
                <a:latin typeface="Geist Bold" pitchFamily="34" charset="0"/>
                <a:ea typeface="Geist Bold" pitchFamily="34" charset="-122"/>
                <a:cs typeface="Geist Bold" pitchFamily="34" charset="-120"/>
              </a:rPr>
              <a:t>Introduction</a:t>
            </a:r>
            <a:endParaRPr lang="en-US" sz="3250" dirty="0"/>
          </a:p>
        </p:txBody>
      </p:sp>
      <p:sp>
        <p:nvSpPr>
          <p:cNvPr id="5" name="Shape 3"/>
          <p:cNvSpPr/>
          <p:nvPr/>
        </p:nvSpPr>
        <p:spPr>
          <a:xfrm>
            <a:off x="542415" y="1632148"/>
            <a:ext cx="5470785" cy="3282652"/>
          </a:xfrm>
          <a:prstGeom prst="roundRect">
            <a:avLst>
              <a:gd name="adj" fmla="val 3628"/>
            </a:avLst>
          </a:prstGeom>
          <a:solidFill>
            <a:srgbClr val="6296FF">
              <a:alpha val="95000"/>
            </a:srgbClr>
          </a:solidFill>
          <a:ln/>
        </p:spPr>
      </p:sp>
      <p:sp>
        <p:nvSpPr>
          <p:cNvPr id="6" name="Text 4"/>
          <p:cNvSpPr/>
          <p:nvPr/>
        </p:nvSpPr>
        <p:spPr>
          <a:xfrm>
            <a:off x="707710" y="1797447"/>
            <a:ext cx="5140196"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000000"/>
                </a:solidFill>
                <a:latin typeface="Geist Bold" pitchFamily="34" charset="0"/>
                <a:ea typeface="Geist Bold" pitchFamily="34" charset="-122"/>
                <a:cs typeface="Geist Bold" pitchFamily="34" charset="-120"/>
              </a:rPr>
              <a:t>Why Vaccination Data Matters</a:t>
            </a:r>
            <a:endParaRPr lang="en-US" sz="1600" dirty="0"/>
          </a:p>
        </p:txBody>
      </p:sp>
      <p:sp>
        <p:nvSpPr>
          <p:cNvPr id="7" name="Text 5"/>
          <p:cNvSpPr/>
          <p:nvPr/>
        </p:nvSpPr>
        <p:spPr>
          <a:xfrm>
            <a:off x="707710" y="2231529"/>
            <a:ext cx="5140196" cy="1075035"/>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000000"/>
                </a:solidFill>
                <a:latin typeface="Geist" pitchFamily="34" charset="0"/>
                <a:ea typeface="Geist" pitchFamily="34" charset="-122"/>
                <a:cs typeface="Geist" pitchFamily="34" charset="-120"/>
              </a:rPr>
              <a:t>Vaccination is one of the most effective public health interventions for preventing infectious diseases and protecting populations from serious health risks. Despite its importance, vaccination outcomes vary substantially across countries, regions, years, and population groups — making systematic analysis essential.</a:t>
            </a:r>
            <a:endParaRPr lang="en-US" sz="1300" dirty="0"/>
          </a:p>
        </p:txBody>
      </p:sp>
      <p:sp>
        <p:nvSpPr>
          <p:cNvPr id="8" name="Text 6"/>
          <p:cNvSpPr/>
          <p:nvPr/>
        </p:nvSpPr>
        <p:spPr>
          <a:xfrm>
            <a:off x="6303904" y="1797447"/>
            <a:ext cx="5232666"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F2F5FA"/>
                </a:solidFill>
                <a:latin typeface="Geist Bold" pitchFamily="34" charset="0"/>
                <a:ea typeface="Geist Bold" pitchFamily="34" charset="-122"/>
                <a:cs typeface="Geist Bold" pitchFamily="34" charset="-120"/>
              </a:rPr>
              <a:t>What This Project Examines</a:t>
            </a:r>
            <a:endParaRPr lang="en-US" sz="1600" dirty="0"/>
          </a:p>
        </p:txBody>
      </p:sp>
      <p:sp>
        <p:nvSpPr>
          <p:cNvPr id="9" name="Text 7"/>
          <p:cNvSpPr/>
          <p:nvPr/>
        </p:nvSpPr>
        <p:spPr>
          <a:xfrm>
            <a:off x="6303904" y="2231529"/>
            <a:ext cx="5232666" cy="1075035"/>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This project analyzes multiple vaccination-related datasets spanning coverage rates, disease incidence, reported cases, vaccine introduction timelines, and vaccination schedules. By applying data analysis and visualization techniques, the study transforms raw records into actionable insights.</a:t>
            </a:r>
            <a:endParaRPr lang="en-US" sz="1300" dirty="0"/>
          </a:p>
        </p:txBody>
      </p:sp>
      <p:sp>
        <p:nvSpPr>
          <p:cNvPr id="10" name="Text 8"/>
          <p:cNvSpPr/>
          <p:nvPr/>
        </p:nvSpPr>
        <p:spPr>
          <a:xfrm>
            <a:off x="6303904" y="3471863"/>
            <a:ext cx="5232666"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F2F5FA"/>
                </a:solidFill>
                <a:latin typeface="Geist Bold" pitchFamily="34" charset="0"/>
                <a:ea typeface="Geist Bold" pitchFamily="34" charset="-122"/>
                <a:cs typeface="Geist Bold" pitchFamily="34" charset="-120"/>
              </a:rPr>
              <a:t>Practical Value</a:t>
            </a:r>
            <a:endParaRPr lang="en-US" sz="1600" dirty="0"/>
          </a:p>
        </p:txBody>
      </p:sp>
      <p:sp>
        <p:nvSpPr>
          <p:cNvPr id="11" name="Text 9"/>
          <p:cNvSpPr/>
          <p:nvPr/>
        </p:nvSpPr>
        <p:spPr>
          <a:xfrm>
            <a:off x="6303904" y="3905945"/>
            <a:ext cx="5232666" cy="860028"/>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Results provide evidence-based insights to support </a:t>
            </a:r>
            <a:pPr algn="l" indent="0" marL="0">
              <a:lnSpc>
                <a:spcPct val="108000"/>
              </a:lnSpc>
              <a:buNone/>
            </a:pPr>
            <a:r>
              <a:rPr lang="en-US" sz="1300" b="1" dirty="0">
                <a:solidFill>
                  <a:srgbClr val="EBEDF0"/>
                </a:solidFill>
                <a:latin typeface="Geist Bold" pitchFamily="34" charset="0"/>
                <a:ea typeface="Geist Bold" pitchFamily="34" charset="-122"/>
                <a:cs typeface="Geist Bold" pitchFamily="34" charset="-120"/>
              </a:rPr>
              <a:t>vaccination program monitoring</a:t>
            </a:r>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 </a:t>
            </a:r>
            <a:pPr algn="l" indent="0" marL="0">
              <a:lnSpc>
                <a:spcPct val="108000"/>
              </a:lnSpc>
              <a:buNone/>
            </a:pPr>
            <a:r>
              <a:rPr lang="en-US" sz="1300" b="1" dirty="0">
                <a:solidFill>
                  <a:srgbClr val="EBEDF0"/>
                </a:solidFill>
                <a:latin typeface="Geist Bold" pitchFamily="34" charset="0"/>
                <a:ea typeface="Geist Bold" pitchFamily="34" charset="-122"/>
                <a:cs typeface="Geist Bold" pitchFamily="34" charset="-120"/>
              </a:rPr>
              <a:t>resource allocation</a:t>
            </a:r>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 </a:t>
            </a:r>
            <a:pPr algn="l" indent="0" marL="0">
              <a:lnSpc>
                <a:spcPct val="108000"/>
              </a:lnSpc>
              <a:buNone/>
            </a:pPr>
            <a:r>
              <a:rPr lang="en-US" sz="1300" b="1" dirty="0">
                <a:solidFill>
                  <a:srgbClr val="EBEDF0"/>
                </a:solidFill>
                <a:latin typeface="Geist Bold" pitchFamily="34" charset="0"/>
                <a:ea typeface="Geist Bold" pitchFamily="34" charset="-122"/>
                <a:cs typeface="Geist Bold" pitchFamily="34" charset="-120"/>
              </a:rPr>
              <a:t>disease prevention strategies</a:t>
            </a:r>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 and broader </a:t>
            </a:r>
            <a:pPr algn="l" indent="0" marL="0">
              <a:lnSpc>
                <a:spcPct val="108000"/>
              </a:lnSpc>
              <a:buNone/>
            </a:pPr>
            <a:r>
              <a:rPr lang="en-US" sz="1300" b="1" dirty="0">
                <a:solidFill>
                  <a:srgbClr val="EBEDF0"/>
                </a:solidFill>
                <a:latin typeface="Geist Bold" pitchFamily="34" charset="0"/>
                <a:ea typeface="Geist Bold" pitchFamily="34" charset="-122"/>
                <a:cs typeface="Geist Bold" pitchFamily="34" charset="-120"/>
              </a:rPr>
              <a:t>public health planning</a:t>
            </a:r>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 at national and regional levels.</a:t>
            </a:r>
            <a:endParaRPr lang="en-US" sz="130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5111155"/>
            <a:ext cx="248041" cy="248047"/>
          </a:xfrm>
          <a:prstGeom prst="rect">
            <a:avLst/>
          </a:prstGeom>
        </p:spPr>
      </p:pic>
      <p:sp>
        <p:nvSpPr>
          <p:cNvPr id="13" name="Text 10"/>
          <p:cNvSpPr/>
          <p:nvPr/>
        </p:nvSpPr>
        <p:spPr>
          <a:xfrm>
            <a:off x="1198830" y="5100836"/>
            <a:ext cx="294771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Diverse Coverage Patterns</a:t>
            </a:r>
            <a:endParaRPr lang="en-US" sz="1600" dirty="0"/>
          </a:p>
        </p:txBody>
      </p:sp>
      <p:sp>
        <p:nvSpPr>
          <p:cNvPr id="14" name="Text 11"/>
          <p:cNvSpPr/>
          <p:nvPr/>
        </p:nvSpPr>
        <p:spPr>
          <a:xfrm>
            <a:off x="1198830" y="5468838"/>
            <a:ext cx="2947715" cy="860028"/>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Vaccination coverage, disease incidence, and reported cases differ significantly across countries and time periods.</a:t>
            </a:r>
            <a:endParaRPr lang="en-US" sz="130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15223" y="5111155"/>
            <a:ext cx="248041" cy="248047"/>
          </a:xfrm>
          <a:prstGeom prst="rect">
            <a:avLst/>
          </a:prstGeom>
        </p:spPr>
      </p:pic>
      <p:sp>
        <p:nvSpPr>
          <p:cNvPr id="16" name="Text 12"/>
          <p:cNvSpPr/>
          <p:nvPr/>
        </p:nvSpPr>
        <p:spPr>
          <a:xfrm>
            <a:off x="4890568" y="5100836"/>
            <a:ext cx="294781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Multi-Dataset Approach</a:t>
            </a:r>
            <a:endParaRPr lang="en-US" sz="1600" dirty="0"/>
          </a:p>
        </p:txBody>
      </p:sp>
      <p:sp>
        <p:nvSpPr>
          <p:cNvPr id="17" name="Text 13"/>
          <p:cNvSpPr/>
          <p:nvPr/>
        </p:nvSpPr>
        <p:spPr>
          <a:xfrm>
            <a:off x="4890568" y="5468838"/>
            <a:ext cx="2947815" cy="645021"/>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Five interrelated datasets are analyzed together to reveal patterns not visible from any single source.</a:t>
            </a:r>
            <a:endParaRPr lang="en-US" sz="13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07060" y="5111155"/>
            <a:ext cx="248041" cy="248047"/>
          </a:xfrm>
          <a:prstGeom prst="rect">
            <a:avLst/>
          </a:prstGeom>
        </p:spPr>
      </p:pic>
      <p:sp>
        <p:nvSpPr>
          <p:cNvPr id="19" name="Text 14"/>
          <p:cNvSpPr/>
          <p:nvPr/>
        </p:nvSpPr>
        <p:spPr>
          <a:xfrm>
            <a:off x="8582406" y="5100836"/>
            <a:ext cx="294781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Visualization-Driven Insights</a:t>
            </a:r>
            <a:endParaRPr lang="en-US" sz="1600" dirty="0"/>
          </a:p>
        </p:txBody>
      </p:sp>
      <p:sp>
        <p:nvSpPr>
          <p:cNvPr id="20" name="Text 15"/>
          <p:cNvSpPr/>
          <p:nvPr/>
        </p:nvSpPr>
        <p:spPr>
          <a:xfrm>
            <a:off x="8582406" y="5468838"/>
            <a:ext cx="2947815" cy="860028"/>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Charts, plots, and interactive dashboards make complex data accessible to public health decision-makers.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528935"/>
            <a:ext cx="644112" cy="168870"/>
          </a:xfrm>
          <a:prstGeom prst="roundRect">
            <a:avLst>
              <a:gd name="adj" fmla="val 22110"/>
            </a:avLst>
          </a:prstGeom>
          <a:solidFill>
            <a:srgbClr val="00194D"/>
          </a:solidFill>
          <a:ln/>
        </p:spPr>
      </p:sp>
      <p:sp>
        <p:nvSpPr>
          <p:cNvPr id="3" name="Text 1"/>
          <p:cNvSpPr/>
          <p:nvPr/>
        </p:nvSpPr>
        <p:spPr>
          <a:xfrm>
            <a:off x="728148" y="562273"/>
            <a:ext cx="1120350" cy="102195"/>
          </a:xfrm>
          <a:prstGeom prst="rect">
            <a:avLst/>
          </a:prstGeom>
          <a:noFill/>
          <a:ln/>
        </p:spPr>
        <p:txBody>
          <a:bodyPr wrap="none" lIns="0" tIns="0" rIns="0" bIns="0" rtlCol="0" anchor="t"/>
          <a:lstStyle/>
          <a:p>
            <a:pPr algn="l" indent="0" marL="0">
              <a:lnSpc>
                <a:spcPct val="96000"/>
              </a:lnSpc>
              <a:buNone/>
            </a:pPr>
            <a:r>
              <a:rPr lang="en-US" sz="650" dirty="0">
                <a:solidFill>
                  <a:srgbClr val="EBEDF0"/>
                </a:solidFill>
                <a:latin typeface="Geist" pitchFamily="34" charset="0"/>
                <a:ea typeface="Geist" pitchFamily="34" charset="-122"/>
                <a:cs typeface="Geist" pitchFamily="34" charset="-120"/>
              </a:rPr>
              <a:t>MOTIVATION</a:t>
            </a:r>
            <a:endParaRPr lang="en-US" sz="650" dirty="0"/>
          </a:p>
        </p:txBody>
      </p:sp>
      <p:sp>
        <p:nvSpPr>
          <p:cNvPr id="4" name="Text 2"/>
          <p:cNvSpPr/>
          <p:nvPr/>
        </p:nvSpPr>
        <p:spPr>
          <a:xfrm>
            <a:off x="661475" y="727670"/>
            <a:ext cx="10868745" cy="361156"/>
          </a:xfrm>
          <a:prstGeom prst="rect">
            <a:avLst/>
          </a:prstGeom>
          <a:noFill/>
          <a:ln/>
        </p:spPr>
        <p:txBody>
          <a:bodyPr wrap="none" lIns="0" tIns="0" rIns="0" bIns="0" rtlCol="0" anchor="t"/>
          <a:lstStyle/>
          <a:p>
            <a:pPr algn="l" indent="0" marL="0">
              <a:lnSpc>
                <a:spcPct val="108000"/>
              </a:lnSpc>
              <a:buNone/>
            </a:pPr>
            <a:r>
              <a:rPr lang="en-US" sz="2150" b="1" spc="-44" kern="0" dirty="0">
                <a:solidFill>
                  <a:srgbClr val="F2F5FA"/>
                </a:solidFill>
                <a:latin typeface="Geist Bold" pitchFamily="34" charset="0"/>
                <a:ea typeface="Geist Bold" pitchFamily="34" charset="-122"/>
                <a:cs typeface="Geist Bold" pitchFamily="34" charset="-120"/>
              </a:rPr>
              <a:t>Problem Statement &amp; Project Objectives</a:t>
            </a:r>
            <a:endParaRPr lang="en-US" sz="2150" dirty="0"/>
          </a:p>
        </p:txBody>
      </p:sp>
      <p:sp>
        <p:nvSpPr>
          <p:cNvPr id="5" name="Text 3"/>
          <p:cNvSpPr/>
          <p:nvPr/>
        </p:nvSpPr>
        <p:spPr>
          <a:xfrm>
            <a:off x="661475" y="1275358"/>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F2F5FA"/>
                </a:solidFill>
                <a:latin typeface="Geist Bold" pitchFamily="34" charset="0"/>
                <a:ea typeface="Geist Bold" pitchFamily="34" charset="-122"/>
                <a:cs typeface="Geist Bold" pitchFamily="34" charset="-120"/>
              </a:rPr>
              <a:t>The Core Challenge</a:t>
            </a:r>
            <a:endParaRPr lang="en-US" sz="1050" dirty="0"/>
          </a:p>
        </p:txBody>
      </p:sp>
      <p:sp>
        <p:nvSpPr>
          <p:cNvPr id="6" name="Text 4"/>
          <p:cNvSpPr/>
          <p:nvPr/>
        </p:nvSpPr>
        <p:spPr>
          <a:xfrm>
            <a:off x="661475" y="1530548"/>
            <a:ext cx="5298843" cy="482997"/>
          </a:xfrm>
          <a:prstGeom prst="rect">
            <a:avLst/>
          </a:prstGeom>
          <a:noFill/>
          <a:ln/>
        </p:spPr>
        <p:txBody>
          <a:bodyPr wrap="square" lIns="0" tIns="0" rIns="0" bIns="0" rtlCol="0" anchor="t">
            <a:normAutofit/>
          </a:bodyPr>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Vaccination programs worldwide generate enormous volumes of data covering coverage rates, doses administered, target populations, disease incidence, and vaccination schedules. </a:t>
            </a:r>
            <a:pPr algn="l" indent="0" marL="0">
              <a:lnSpc>
                <a:spcPct val="91000"/>
              </a:lnSpc>
              <a:buNone/>
            </a:pPr>
            <a:r>
              <a:rPr lang="en-US" sz="850" b="1" dirty="0">
                <a:solidFill>
                  <a:srgbClr val="EBEDF0"/>
                </a:solidFill>
                <a:latin typeface="Geist Bold" pitchFamily="34" charset="0"/>
                <a:ea typeface="Geist Bold" pitchFamily="34" charset="-122"/>
                <a:cs typeface="Geist Bold" pitchFamily="34" charset="-120"/>
              </a:rPr>
              <a:t>Manual analysis of this data is insufficient</a:t>
            </a:r>
            <a:pPr algn="l" indent="0" marL="0">
              <a:lnSpc>
                <a:spcPct val="91000"/>
              </a:lnSpc>
              <a:buNone/>
            </a:pPr>
            <a:r>
              <a:rPr lang="en-US" sz="850" dirty="0">
                <a:solidFill>
                  <a:srgbClr val="EBEDF0"/>
                </a:solidFill>
                <a:latin typeface="Geist" pitchFamily="34" charset="0"/>
                <a:ea typeface="Geist" pitchFamily="34" charset="-122"/>
                <a:cs typeface="Geist" pitchFamily="34" charset="-120"/>
              </a:rPr>
              <a:t> to identify important patterns and differences across countries, diseases, regions, and years. A systematic, computational approach is required to extract meaningful insights.</a:t>
            </a:r>
            <a:endParaRPr lang="en-US" sz="850" dirty="0"/>
          </a:p>
        </p:txBody>
      </p:sp>
      <p:sp>
        <p:nvSpPr>
          <p:cNvPr id="7" name="Shape 5"/>
          <p:cNvSpPr/>
          <p:nvPr/>
        </p:nvSpPr>
        <p:spPr>
          <a:xfrm>
            <a:off x="661475" y="2097484"/>
            <a:ext cx="5298843" cy="552152"/>
          </a:xfrm>
          <a:prstGeom prst="roundRect">
            <a:avLst>
              <a:gd name="adj" fmla="val 8453"/>
            </a:avLst>
          </a:prstGeom>
          <a:solidFill>
            <a:srgbClr val="002A80"/>
          </a:solidFill>
          <a:ln/>
        </p:spPr>
      </p:sp>
      <p:pic>
        <p:nvPicPr>
          <p:cNvPr id="8" name="Image 0" descr="preencoded.png">    </p:cNvPr>
          <p:cNvPicPr>
            <a:picLocks noChangeAspect="1"/>
          </p:cNvPicPr>
          <p:nvPr/>
        </p:nvPicPr>
        <p:blipFill>
          <a:blip r:embed="rId1"/>
          <a:stretch>
            <a:fillRect/>
          </a:stretch>
        </p:blipFill>
        <p:spPr>
          <a:xfrm>
            <a:off x="772597" y="2270919"/>
            <a:ext cx="138903" cy="111125"/>
          </a:xfrm>
          <a:prstGeom prst="rect">
            <a:avLst/>
          </a:prstGeom>
        </p:spPr>
      </p:pic>
      <p:sp>
        <p:nvSpPr>
          <p:cNvPr id="9" name="Text 6"/>
          <p:cNvSpPr/>
          <p:nvPr/>
        </p:nvSpPr>
        <p:spPr>
          <a:xfrm>
            <a:off x="1022622" y="2192437"/>
            <a:ext cx="4826574" cy="362248"/>
          </a:xfrm>
          <a:prstGeom prst="rect">
            <a:avLst/>
          </a:prstGeom>
          <a:noFill/>
          <a:ln/>
        </p:spPr>
        <p:txBody>
          <a:bodyPr wrap="square" lIns="0" tIns="0" rIns="0" bIns="0" rtlCol="0" anchor="t">
            <a:normAutofit/>
          </a:bodyPr>
          <a:lstStyle/>
          <a:p>
            <a:pPr algn="l" indent="0" marL="0">
              <a:lnSpc>
                <a:spcPct val="91000"/>
              </a:lnSpc>
              <a:buNone/>
            </a:pPr>
            <a:r>
              <a:rPr lang="en-US" sz="850" dirty="0">
                <a:solidFill>
                  <a:srgbClr val="FFFFFF"/>
                </a:solidFill>
                <a:latin typeface="Geist" pitchFamily="34" charset="0"/>
                <a:ea typeface="Geist" pitchFamily="34" charset="-122"/>
                <a:cs typeface="Geist" pitchFamily="34" charset="-120"/>
              </a:rPr>
              <a:t>Systematic data cleaning, exploratory analysis, and visualization are essential to transform raw vaccination records into public health intelligence that can drive program optimization and resource allocation decisions.</a:t>
            </a:r>
            <a:endParaRPr lang="en-US" sz="850" dirty="0"/>
          </a:p>
        </p:txBody>
      </p:sp>
      <p:sp>
        <p:nvSpPr>
          <p:cNvPr id="10" name="Text 7"/>
          <p:cNvSpPr/>
          <p:nvPr/>
        </p:nvSpPr>
        <p:spPr>
          <a:xfrm>
            <a:off x="6237727" y="1275358"/>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F2F5FA"/>
                </a:solidFill>
                <a:latin typeface="Geist Bold" pitchFamily="34" charset="0"/>
                <a:ea typeface="Geist Bold" pitchFamily="34" charset="-122"/>
                <a:cs typeface="Geist Bold" pitchFamily="34" charset="-120"/>
              </a:rPr>
              <a:t>Project Objectives</a:t>
            </a:r>
            <a:endParaRPr lang="en-US" sz="1050" dirty="0"/>
          </a:p>
        </p:txBody>
      </p:sp>
      <p:sp>
        <p:nvSpPr>
          <p:cNvPr id="11" name="Text 8"/>
          <p:cNvSpPr/>
          <p:nvPr/>
        </p:nvSpPr>
        <p:spPr>
          <a:xfrm>
            <a:off x="6237727" y="1539875"/>
            <a:ext cx="222244" cy="144463"/>
          </a:xfrm>
          <a:prstGeom prst="rect">
            <a:avLst/>
          </a:prstGeom>
          <a:noFill/>
          <a:ln/>
        </p:spPr>
        <p:txBody>
          <a:bodyPr wrap="none" lIns="0" tIns="0" rIns="0" bIns="0" rtlCol="0" anchor="ctr"/>
          <a:lstStyle/>
          <a:p>
            <a:pPr algn="l" indent="0" marL="0">
              <a:lnSpc>
                <a:spcPct val="100000"/>
              </a:lnSpc>
              <a:buNone/>
            </a:pPr>
            <a:r>
              <a:rPr lang="en-US" sz="850" spc="-17" kern="0" dirty="0">
                <a:solidFill>
                  <a:srgbClr val="EBEDF0"/>
                </a:solidFill>
                <a:latin typeface="Geist Light" pitchFamily="34" charset="0"/>
                <a:ea typeface="Geist Light" pitchFamily="34" charset="-122"/>
                <a:cs typeface="Geist Light" pitchFamily="34" charset="-120"/>
              </a:rPr>
              <a:t>01</a:t>
            </a:r>
            <a:endParaRPr lang="en-US" sz="850" dirty="0"/>
          </a:p>
        </p:txBody>
      </p:sp>
      <p:sp>
        <p:nvSpPr>
          <p:cNvPr id="12" name="Shape 9"/>
          <p:cNvSpPr/>
          <p:nvPr/>
        </p:nvSpPr>
        <p:spPr>
          <a:xfrm>
            <a:off x="6237727" y="1721644"/>
            <a:ext cx="5298843" cy="12700"/>
          </a:xfrm>
          <a:prstGeom prst="rect">
            <a:avLst/>
          </a:prstGeom>
          <a:solidFill>
            <a:srgbClr val="487CFF"/>
          </a:solidFill>
          <a:ln/>
        </p:spPr>
      </p:sp>
      <p:sp>
        <p:nvSpPr>
          <p:cNvPr id="13" name="Text 10"/>
          <p:cNvSpPr/>
          <p:nvPr/>
        </p:nvSpPr>
        <p:spPr>
          <a:xfrm>
            <a:off x="6237727" y="1802606"/>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EBEDF0"/>
                </a:solidFill>
                <a:latin typeface="Geist Bold" pitchFamily="34" charset="0"/>
                <a:ea typeface="Geist Bold" pitchFamily="34" charset="-122"/>
                <a:cs typeface="Geist Bold" pitchFamily="34" charset="-120"/>
              </a:rPr>
              <a:t>Analyze vaccination coverage</a:t>
            </a:r>
            <a:endParaRPr lang="en-US" sz="1050" dirty="0"/>
          </a:p>
        </p:txBody>
      </p:sp>
      <p:sp>
        <p:nvSpPr>
          <p:cNvPr id="14" name="Text 11"/>
          <p:cNvSpPr/>
          <p:nvPr/>
        </p:nvSpPr>
        <p:spPr>
          <a:xfrm>
            <a:off x="6237727" y="2057797"/>
            <a:ext cx="5298843" cy="120749"/>
          </a:xfrm>
          <a:prstGeom prst="rect">
            <a:avLst/>
          </a:prstGeom>
          <a:noFill/>
          <a:ln/>
        </p:spPr>
        <p:txBody>
          <a:bodyPr wrap="none" lIns="0" tIns="0" rIns="0" bIns="0" rtlCol="0" anchor="t"/>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Across different countries and years</a:t>
            </a:r>
            <a:endParaRPr lang="en-US" sz="850" dirty="0"/>
          </a:p>
        </p:txBody>
      </p:sp>
      <p:sp>
        <p:nvSpPr>
          <p:cNvPr id="15" name="Text 12"/>
          <p:cNvSpPr/>
          <p:nvPr/>
        </p:nvSpPr>
        <p:spPr>
          <a:xfrm>
            <a:off x="6237727" y="2336502"/>
            <a:ext cx="222244" cy="144463"/>
          </a:xfrm>
          <a:prstGeom prst="rect">
            <a:avLst/>
          </a:prstGeom>
          <a:noFill/>
          <a:ln/>
        </p:spPr>
        <p:txBody>
          <a:bodyPr wrap="none" lIns="0" tIns="0" rIns="0" bIns="0" rtlCol="0" anchor="ctr"/>
          <a:lstStyle/>
          <a:p>
            <a:pPr algn="l" indent="0" marL="0">
              <a:lnSpc>
                <a:spcPct val="100000"/>
              </a:lnSpc>
              <a:buNone/>
            </a:pPr>
            <a:r>
              <a:rPr lang="en-US" sz="850" spc="-17" kern="0" dirty="0">
                <a:solidFill>
                  <a:srgbClr val="EBEDF0"/>
                </a:solidFill>
                <a:latin typeface="Geist Light" pitchFamily="34" charset="0"/>
                <a:ea typeface="Geist Light" pitchFamily="34" charset="-122"/>
                <a:cs typeface="Geist Light" pitchFamily="34" charset="-120"/>
              </a:rPr>
              <a:t>02</a:t>
            </a:r>
            <a:endParaRPr lang="en-US" sz="850" dirty="0"/>
          </a:p>
        </p:txBody>
      </p:sp>
      <p:sp>
        <p:nvSpPr>
          <p:cNvPr id="16" name="Shape 13"/>
          <p:cNvSpPr/>
          <p:nvPr/>
        </p:nvSpPr>
        <p:spPr>
          <a:xfrm>
            <a:off x="6237727" y="2507159"/>
            <a:ext cx="5298843" cy="12700"/>
          </a:xfrm>
          <a:prstGeom prst="rect">
            <a:avLst/>
          </a:prstGeom>
          <a:solidFill>
            <a:srgbClr val="487CFF"/>
          </a:solidFill>
          <a:ln/>
        </p:spPr>
      </p:sp>
      <p:sp>
        <p:nvSpPr>
          <p:cNvPr id="17" name="Text 14"/>
          <p:cNvSpPr/>
          <p:nvPr/>
        </p:nvSpPr>
        <p:spPr>
          <a:xfrm>
            <a:off x="6237727" y="2599234"/>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EBEDF0"/>
                </a:solidFill>
                <a:latin typeface="Geist Bold" pitchFamily="34" charset="0"/>
                <a:ea typeface="Geist Bold" pitchFamily="34" charset="-122"/>
                <a:cs typeface="Geist Bold" pitchFamily="34" charset="-120"/>
              </a:rPr>
              <a:t>Study disease incidence rates</a:t>
            </a:r>
            <a:endParaRPr lang="en-US" sz="1050" dirty="0"/>
          </a:p>
        </p:txBody>
      </p:sp>
      <p:sp>
        <p:nvSpPr>
          <p:cNvPr id="18" name="Text 15"/>
          <p:cNvSpPr/>
          <p:nvPr/>
        </p:nvSpPr>
        <p:spPr>
          <a:xfrm>
            <a:off x="6237727" y="2854424"/>
            <a:ext cx="5298843" cy="120749"/>
          </a:xfrm>
          <a:prstGeom prst="rect">
            <a:avLst/>
          </a:prstGeom>
          <a:noFill/>
          <a:ln/>
        </p:spPr>
        <p:txBody>
          <a:bodyPr wrap="none" lIns="0" tIns="0" rIns="0" bIns="0" rtlCol="0" anchor="t"/>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And reported disease case counts by disease type</a:t>
            </a:r>
            <a:endParaRPr lang="en-US" sz="850" dirty="0"/>
          </a:p>
        </p:txBody>
      </p:sp>
      <p:sp>
        <p:nvSpPr>
          <p:cNvPr id="19" name="Text 16"/>
          <p:cNvSpPr/>
          <p:nvPr/>
        </p:nvSpPr>
        <p:spPr>
          <a:xfrm>
            <a:off x="6237727" y="3133130"/>
            <a:ext cx="222244" cy="144463"/>
          </a:xfrm>
          <a:prstGeom prst="rect">
            <a:avLst/>
          </a:prstGeom>
          <a:noFill/>
          <a:ln/>
        </p:spPr>
        <p:txBody>
          <a:bodyPr wrap="none" lIns="0" tIns="0" rIns="0" bIns="0" rtlCol="0" anchor="ctr"/>
          <a:lstStyle/>
          <a:p>
            <a:pPr algn="l" indent="0" marL="0">
              <a:lnSpc>
                <a:spcPct val="100000"/>
              </a:lnSpc>
              <a:buNone/>
            </a:pPr>
            <a:r>
              <a:rPr lang="en-US" sz="850" spc="-17" kern="0" dirty="0">
                <a:solidFill>
                  <a:srgbClr val="EBEDF0"/>
                </a:solidFill>
                <a:latin typeface="Geist Light" pitchFamily="34" charset="0"/>
                <a:ea typeface="Geist Light" pitchFamily="34" charset="-122"/>
                <a:cs typeface="Geist Light" pitchFamily="34" charset="-120"/>
              </a:rPr>
              <a:t>03</a:t>
            </a:r>
            <a:endParaRPr lang="en-US" sz="850" dirty="0"/>
          </a:p>
        </p:txBody>
      </p:sp>
      <p:sp>
        <p:nvSpPr>
          <p:cNvPr id="20" name="Shape 17"/>
          <p:cNvSpPr/>
          <p:nvPr/>
        </p:nvSpPr>
        <p:spPr>
          <a:xfrm>
            <a:off x="6237727" y="3292673"/>
            <a:ext cx="5298843" cy="12700"/>
          </a:xfrm>
          <a:prstGeom prst="rect">
            <a:avLst/>
          </a:prstGeom>
          <a:solidFill>
            <a:srgbClr val="487CFF"/>
          </a:solidFill>
          <a:ln/>
        </p:spPr>
      </p:sp>
      <p:sp>
        <p:nvSpPr>
          <p:cNvPr id="21" name="Text 18"/>
          <p:cNvSpPr/>
          <p:nvPr/>
        </p:nvSpPr>
        <p:spPr>
          <a:xfrm>
            <a:off x="6237727" y="3395861"/>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EBEDF0"/>
                </a:solidFill>
                <a:latin typeface="Geist Bold" pitchFamily="34" charset="0"/>
                <a:ea typeface="Geist Bold" pitchFamily="34" charset="-122"/>
                <a:cs typeface="Geist Bold" pitchFamily="34" charset="-120"/>
              </a:rPr>
              <a:t>Analyze vaccine introduction patterns</a:t>
            </a:r>
            <a:endParaRPr lang="en-US" sz="1050" dirty="0"/>
          </a:p>
        </p:txBody>
      </p:sp>
      <p:sp>
        <p:nvSpPr>
          <p:cNvPr id="22" name="Text 19"/>
          <p:cNvSpPr/>
          <p:nvPr/>
        </p:nvSpPr>
        <p:spPr>
          <a:xfrm>
            <a:off x="6237727" y="3651052"/>
            <a:ext cx="5298843" cy="120749"/>
          </a:xfrm>
          <a:prstGeom prst="rect">
            <a:avLst/>
          </a:prstGeom>
          <a:noFill/>
          <a:ln/>
        </p:spPr>
        <p:txBody>
          <a:bodyPr wrap="none" lIns="0" tIns="0" rIns="0" bIns="0" rtlCol="0" anchor="t"/>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Across WHO regions over time</a:t>
            </a:r>
            <a:endParaRPr lang="en-US" sz="850" dirty="0"/>
          </a:p>
        </p:txBody>
      </p:sp>
      <p:sp>
        <p:nvSpPr>
          <p:cNvPr id="23" name="Text 20"/>
          <p:cNvSpPr/>
          <p:nvPr/>
        </p:nvSpPr>
        <p:spPr>
          <a:xfrm>
            <a:off x="6237727" y="3929757"/>
            <a:ext cx="222244" cy="144463"/>
          </a:xfrm>
          <a:prstGeom prst="rect">
            <a:avLst/>
          </a:prstGeom>
          <a:noFill/>
          <a:ln/>
        </p:spPr>
        <p:txBody>
          <a:bodyPr wrap="none" lIns="0" tIns="0" rIns="0" bIns="0" rtlCol="0" anchor="ctr"/>
          <a:lstStyle/>
          <a:p>
            <a:pPr algn="l" indent="0" marL="0">
              <a:lnSpc>
                <a:spcPct val="100000"/>
              </a:lnSpc>
              <a:buNone/>
            </a:pPr>
            <a:r>
              <a:rPr lang="en-US" sz="850" spc="-17" kern="0" dirty="0">
                <a:solidFill>
                  <a:srgbClr val="EBEDF0"/>
                </a:solidFill>
                <a:latin typeface="Geist Light" pitchFamily="34" charset="0"/>
                <a:ea typeface="Geist Light" pitchFamily="34" charset="-122"/>
                <a:cs typeface="Geist Light" pitchFamily="34" charset="-120"/>
              </a:rPr>
              <a:t>04</a:t>
            </a:r>
            <a:endParaRPr lang="en-US" sz="850" dirty="0"/>
          </a:p>
        </p:txBody>
      </p:sp>
      <p:sp>
        <p:nvSpPr>
          <p:cNvPr id="24" name="Shape 21"/>
          <p:cNvSpPr/>
          <p:nvPr/>
        </p:nvSpPr>
        <p:spPr>
          <a:xfrm>
            <a:off x="6237727" y="4078188"/>
            <a:ext cx="5298843" cy="12700"/>
          </a:xfrm>
          <a:prstGeom prst="rect">
            <a:avLst/>
          </a:prstGeom>
          <a:solidFill>
            <a:srgbClr val="487CFF"/>
          </a:solidFill>
          <a:ln/>
        </p:spPr>
      </p:sp>
      <p:sp>
        <p:nvSpPr>
          <p:cNvPr id="25" name="Text 22"/>
          <p:cNvSpPr/>
          <p:nvPr/>
        </p:nvSpPr>
        <p:spPr>
          <a:xfrm>
            <a:off x="6237727" y="4192488"/>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EBEDF0"/>
                </a:solidFill>
                <a:latin typeface="Geist Bold" pitchFamily="34" charset="0"/>
                <a:ea typeface="Geist Bold" pitchFamily="34" charset="-122"/>
                <a:cs typeface="Geist Bold" pitchFamily="34" charset="-120"/>
              </a:rPr>
              <a:t>Understand vaccination schedules</a:t>
            </a:r>
            <a:endParaRPr lang="en-US" sz="1050" dirty="0"/>
          </a:p>
        </p:txBody>
      </p:sp>
      <p:sp>
        <p:nvSpPr>
          <p:cNvPr id="26" name="Text 23"/>
          <p:cNvSpPr/>
          <p:nvPr/>
        </p:nvSpPr>
        <p:spPr>
          <a:xfrm>
            <a:off x="6237727" y="4447679"/>
            <a:ext cx="5298843" cy="120749"/>
          </a:xfrm>
          <a:prstGeom prst="rect">
            <a:avLst/>
          </a:prstGeom>
          <a:noFill/>
          <a:ln/>
        </p:spPr>
        <p:txBody>
          <a:bodyPr wrap="none" lIns="0" tIns="0" rIns="0" bIns="0" rtlCol="0" anchor="t"/>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And target population characteristics</a:t>
            </a:r>
            <a:endParaRPr lang="en-US" sz="850" dirty="0"/>
          </a:p>
        </p:txBody>
      </p:sp>
      <p:sp>
        <p:nvSpPr>
          <p:cNvPr id="27" name="Text 24"/>
          <p:cNvSpPr/>
          <p:nvPr/>
        </p:nvSpPr>
        <p:spPr>
          <a:xfrm>
            <a:off x="6237727" y="4726384"/>
            <a:ext cx="222244" cy="144463"/>
          </a:xfrm>
          <a:prstGeom prst="rect">
            <a:avLst/>
          </a:prstGeom>
          <a:noFill/>
          <a:ln/>
        </p:spPr>
        <p:txBody>
          <a:bodyPr wrap="none" lIns="0" tIns="0" rIns="0" bIns="0" rtlCol="0" anchor="ctr"/>
          <a:lstStyle/>
          <a:p>
            <a:pPr algn="l" indent="0" marL="0">
              <a:lnSpc>
                <a:spcPct val="100000"/>
              </a:lnSpc>
              <a:buNone/>
            </a:pPr>
            <a:r>
              <a:rPr lang="en-US" sz="850" spc="-17" kern="0" dirty="0">
                <a:solidFill>
                  <a:srgbClr val="EBEDF0"/>
                </a:solidFill>
                <a:latin typeface="Geist Light" pitchFamily="34" charset="0"/>
                <a:ea typeface="Geist Light" pitchFamily="34" charset="-122"/>
                <a:cs typeface="Geist Light" pitchFamily="34" charset="-120"/>
              </a:rPr>
              <a:t>05</a:t>
            </a:r>
            <a:endParaRPr lang="en-US" sz="850" dirty="0"/>
          </a:p>
        </p:txBody>
      </p:sp>
      <p:sp>
        <p:nvSpPr>
          <p:cNvPr id="28" name="Shape 25"/>
          <p:cNvSpPr/>
          <p:nvPr/>
        </p:nvSpPr>
        <p:spPr>
          <a:xfrm>
            <a:off x="6237727" y="4863703"/>
            <a:ext cx="5298843" cy="12700"/>
          </a:xfrm>
          <a:prstGeom prst="rect">
            <a:avLst/>
          </a:prstGeom>
          <a:solidFill>
            <a:srgbClr val="487CFF"/>
          </a:solidFill>
          <a:ln/>
        </p:spPr>
      </p:sp>
      <p:sp>
        <p:nvSpPr>
          <p:cNvPr id="29" name="Text 26"/>
          <p:cNvSpPr/>
          <p:nvPr/>
        </p:nvSpPr>
        <p:spPr>
          <a:xfrm>
            <a:off x="6237727" y="4989116"/>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EBEDF0"/>
                </a:solidFill>
                <a:latin typeface="Geist Bold" pitchFamily="34" charset="0"/>
                <a:ea typeface="Geist Bold" pitchFamily="34" charset="-122"/>
                <a:cs typeface="Geist Bold" pitchFamily="34" charset="-120"/>
              </a:rPr>
              <a:t>Examine variable relationships</a:t>
            </a:r>
            <a:endParaRPr lang="en-US" sz="1050" dirty="0"/>
          </a:p>
        </p:txBody>
      </p:sp>
      <p:sp>
        <p:nvSpPr>
          <p:cNvPr id="30" name="Text 27"/>
          <p:cNvSpPr/>
          <p:nvPr/>
        </p:nvSpPr>
        <p:spPr>
          <a:xfrm>
            <a:off x="6237727" y="5244306"/>
            <a:ext cx="5298843" cy="120749"/>
          </a:xfrm>
          <a:prstGeom prst="rect">
            <a:avLst/>
          </a:prstGeom>
          <a:noFill/>
          <a:ln/>
        </p:spPr>
        <p:txBody>
          <a:bodyPr wrap="none" lIns="0" tIns="0" rIns="0" bIns="0" rtlCol="0" anchor="t"/>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Between target population, doses, and coverage</a:t>
            </a:r>
            <a:endParaRPr lang="en-US" sz="850" dirty="0"/>
          </a:p>
        </p:txBody>
      </p:sp>
      <p:sp>
        <p:nvSpPr>
          <p:cNvPr id="31" name="Text 28"/>
          <p:cNvSpPr/>
          <p:nvPr/>
        </p:nvSpPr>
        <p:spPr>
          <a:xfrm>
            <a:off x="6237727" y="5523012"/>
            <a:ext cx="222244" cy="144463"/>
          </a:xfrm>
          <a:prstGeom prst="rect">
            <a:avLst/>
          </a:prstGeom>
          <a:noFill/>
          <a:ln/>
        </p:spPr>
        <p:txBody>
          <a:bodyPr wrap="none" lIns="0" tIns="0" rIns="0" bIns="0" rtlCol="0" anchor="ctr"/>
          <a:lstStyle/>
          <a:p>
            <a:pPr algn="l" indent="0" marL="0">
              <a:lnSpc>
                <a:spcPct val="100000"/>
              </a:lnSpc>
              <a:buNone/>
            </a:pPr>
            <a:r>
              <a:rPr lang="en-US" sz="850" spc="-17" kern="0" dirty="0">
                <a:solidFill>
                  <a:srgbClr val="EBEDF0"/>
                </a:solidFill>
                <a:latin typeface="Geist Light" pitchFamily="34" charset="0"/>
                <a:ea typeface="Geist Light" pitchFamily="34" charset="-122"/>
                <a:cs typeface="Geist Light" pitchFamily="34" charset="-120"/>
              </a:rPr>
              <a:t>06</a:t>
            </a:r>
            <a:endParaRPr lang="en-US" sz="850" dirty="0"/>
          </a:p>
        </p:txBody>
      </p:sp>
      <p:sp>
        <p:nvSpPr>
          <p:cNvPr id="32" name="Shape 29"/>
          <p:cNvSpPr/>
          <p:nvPr/>
        </p:nvSpPr>
        <p:spPr>
          <a:xfrm>
            <a:off x="6237727" y="5649218"/>
            <a:ext cx="5298843" cy="12700"/>
          </a:xfrm>
          <a:prstGeom prst="rect">
            <a:avLst/>
          </a:prstGeom>
          <a:solidFill>
            <a:srgbClr val="487CFF"/>
          </a:solidFill>
          <a:ln/>
        </p:spPr>
      </p:sp>
      <p:sp>
        <p:nvSpPr>
          <p:cNvPr id="33" name="Text 30"/>
          <p:cNvSpPr/>
          <p:nvPr/>
        </p:nvSpPr>
        <p:spPr>
          <a:xfrm>
            <a:off x="6237727" y="5785743"/>
            <a:ext cx="5298843" cy="180578"/>
          </a:xfrm>
          <a:prstGeom prst="rect">
            <a:avLst/>
          </a:prstGeom>
          <a:noFill/>
          <a:ln/>
        </p:spPr>
        <p:txBody>
          <a:bodyPr wrap="none" lIns="0" tIns="0" rIns="0" bIns="0" rtlCol="0" anchor="t"/>
          <a:lstStyle/>
          <a:p>
            <a:pPr algn="l" indent="0" marL="0">
              <a:lnSpc>
                <a:spcPct val="108000"/>
              </a:lnSpc>
              <a:buNone/>
            </a:pPr>
            <a:r>
              <a:rPr lang="en-US" sz="1050" b="1" spc="-22" kern="0" dirty="0">
                <a:solidFill>
                  <a:srgbClr val="EBEDF0"/>
                </a:solidFill>
                <a:latin typeface="Geist Bold" pitchFamily="34" charset="0"/>
                <a:ea typeface="Geist Bold" pitchFamily="34" charset="-122"/>
                <a:cs typeface="Geist Bold" pitchFamily="34" charset="-120"/>
              </a:rPr>
              <a:t>Develop interactive dashboards</a:t>
            </a:r>
            <a:endParaRPr lang="en-US" sz="1050" dirty="0"/>
          </a:p>
        </p:txBody>
      </p:sp>
      <p:sp>
        <p:nvSpPr>
          <p:cNvPr id="34" name="Text 31"/>
          <p:cNvSpPr/>
          <p:nvPr/>
        </p:nvSpPr>
        <p:spPr>
          <a:xfrm>
            <a:off x="6237727" y="6040934"/>
            <a:ext cx="5298843" cy="120749"/>
          </a:xfrm>
          <a:prstGeom prst="rect">
            <a:avLst/>
          </a:prstGeom>
          <a:noFill/>
          <a:ln/>
        </p:spPr>
        <p:txBody>
          <a:bodyPr wrap="none" lIns="0" tIns="0" rIns="0" bIns="0" rtlCol="0" anchor="t"/>
          <a:lstStyle/>
          <a:p>
            <a:pPr algn="l" indent="0" marL="0">
              <a:lnSpc>
                <a:spcPct val="91000"/>
              </a:lnSpc>
              <a:buNone/>
            </a:pPr>
            <a:r>
              <a:rPr lang="en-US" sz="850" dirty="0">
                <a:solidFill>
                  <a:srgbClr val="EBEDF0"/>
                </a:solidFill>
                <a:latin typeface="Geist" pitchFamily="34" charset="0"/>
                <a:ea typeface="Geist" pitchFamily="34" charset="-122"/>
                <a:cs typeface="Geist" pitchFamily="34" charset="-120"/>
              </a:rPr>
              <a:t>For exploring and communicating vaccination data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22585"/>
            <a:ext cx="464134" cy="227806"/>
          </a:xfrm>
          <a:prstGeom prst="roundRect">
            <a:avLst>
              <a:gd name="adj" fmla="val 22107"/>
            </a:avLst>
          </a:prstGeom>
          <a:solidFill>
            <a:srgbClr val="00194D"/>
          </a:solidFill>
          <a:ln/>
        </p:spPr>
      </p:sp>
      <p:sp>
        <p:nvSpPr>
          <p:cNvPr id="3" name="Text 1"/>
          <p:cNvSpPr/>
          <p:nvPr/>
        </p:nvSpPr>
        <p:spPr>
          <a:xfrm>
            <a:off x="751365" y="567531"/>
            <a:ext cx="893939" cy="137914"/>
          </a:xfrm>
          <a:prstGeom prst="rect">
            <a:avLst/>
          </a:prstGeom>
          <a:noFill/>
          <a:ln/>
        </p:spPr>
        <p:txBody>
          <a:bodyPr wrap="none" lIns="0" tIns="0" rIns="0" bIns="0" rtlCol="0" anchor="t"/>
          <a:lstStyle/>
          <a:p>
            <a:pPr algn="l" indent="0" marL="0">
              <a:lnSpc>
                <a:spcPct val="96000"/>
              </a:lnSpc>
              <a:buNone/>
            </a:pPr>
            <a:r>
              <a:rPr lang="en-US" sz="900" dirty="0">
                <a:solidFill>
                  <a:srgbClr val="EBEDF0"/>
                </a:solidFill>
                <a:latin typeface="Geist" pitchFamily="34" charset="0"/>
                <a:ea typeface="Geist" pitchFamily="34" charset="-122"/>
                <a:cs typeface="Geist" pitchFamily="34" charset="-120"/>
              </a:rPr>
              <a:t>DATA</a:t>
            </a:r>
            <a:endParaRPr lang="en-US" sz="900" dirty="0"/>
          </a:p>
        </p:txBody>
      </p:sp>
      <p:sp>
        <p:nvSpPr>
          <p:cNvPr id="4" name="Text 2"/>
          <p:cNvSpPr/>
          <p:nvPr/>
        </p:nvSpPr>
        <p:spPr>
          <a:xfrm>
            <a:off x="661475" y="804664"/>
            <a:ext cx="10868745" cy="487164"/>
          </a:xfrm>
          <a:prstGeom prst="rect">
            <a:avLst/>
          </a:prstGeom>
          <a:noFill/>
          <a:ln/>
        </p:spPr>
        <p:txBody>
          <a:bodyPr wrap="none" lIns="0" tIns="0" rIns="0" bIns="0" rtlCol="0" anchor="t"/>
          <a:lstStyle/>
          <a:p>
            <a:pPr algn="l" indent="0" marL="0">
              <a:lnSpc>
                <a:spcPct val="108000"/>
              </a:lnSpc>
              <a:buNone/>
            </a:pPr>
            <a:r>
              <a:rPr lang="en-US" sz="2950" b="1" spc="-59" kern="0" dirty="0">
                <a:solidFill>
                  <a:srgbClr val="F2F5FA"/>
                </a:solidFill>
                <a:latin typeface="Geist Bold" pitchFamily="34" charset="0"/>
                <a:ea typeface="Geist Bold" pitchFamily="34" charset="-122"/>
                <a:cs typeface="Geist Bold" pitchFamily="34" charset="-120"/>
              </a:rPr>
              <a:t>Datasets Used</a:t>
            </a:r>
            <a:endParaRPr lang="en-US" sz="2950" dirty="0"/>
          </a:p>
        </p:txBody>
      </p:sp>
      <p:sp>
        <p:nvSpPr>
          <p:cNvPr id="5" name="Text 3"/>
          <p:cNvSpPr/>
          <p:nvPr/>
        </p:nvSpPr>
        <p:spPr>
          <a:xfrm>
            <a:off x="661475" y="1495524"/>
            <a:ext cx="10868745" cy="371475"/>
          </a:xfrm>
          <a:prstGeom prst="rect">
            <a:avLst/>
          </a:prstGeom>
          <a:noFill/>
          <a:ln/>
        </p:spPr>
        <p:txBody>
          <a:bodyPr wrap="square" lIns="0" tIns="0" rIns="0" bIns="0" rtlCol="0" anchor="t">
            <a:normAutofit/>
          </a:bodyPr>
          <a:lstStyle/>
          <a:p>
            <a:pPr algn="l" indent="0" marL="0">
              <a:lnSpc>
                <a:spcPct val="103000"/>
              </a:lnSpc>
              <a:buNone/>
            </a:pPr>
            <a:r>
              <a:rPr lang="en-US" sz="1150" dirty="0">
                <a:solidFill>
                  <a:srgbClr val="EBEDF0"/>
                </a:solidFill>
                <a:latin typeface="Geist" pitchFamily="34" charset="0"/>
                <a:ea typeface="Geist" pitchFamily="34" charset="-122"/>
                <a:cs typeface="Geist" pitchFamily="34" charset="-120"/>
              </a:rPr>
              <a:t>Five vaccination-related datasets sourced for this project cover a comprehensive range of public health dimensions — from coverage and incidence to scheduling and vaccine introduction.</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1475" y="2019796"/>
          <a:ext cx="9143771" cy="914400"/>
        </p:xfrm>
        <a:graphic>
          <a:graphicData uri="http://schemas.openxmlformats.org/drawingml/2006/table">
            <a:tbl>
              <a:tblPr/>
              <a:tblGrid>
                <a:gridCol w="2391124"/>
                <a:gridCol w="4130123"/>
                <a:gridCol w="2173749"/>
                <a:gridCol w="2173749"/>
              </a:tblGrid>
              <a:tr h="364521">
                <a:tc>
                  <a:txBody>
                    <a:bodyPr/>
                    <a:lstStyle/>
                    <a:p>
                      <a:pPr algn="l" indent="0" marL="0">
                        <a:buNone/>
                      </a:pPr>
                      <a:r>
                        <a:rPr lang="en-US" sz="1150" b="1" dirty="0">
                          <a:solidFill>
                            <a:srgbClr val="FFFFFF"/>
                          </a:solidFill>
                          <a:latin typeface="Geist" pitchFamily="34" charset="0"/>
                          <a:ea typeface="Geist" pitchFamily="34" charset="-122"/>
                          <a:cs typeface="Geist" pitchFamily="34" charset="-120"/>
                        </a:rPr>
                        <a:t>Dataset</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solidFill>
                      <a:srgbClr val="1F2A5D"/>
                    </a:solidFill>
                  </a:tcPr>
                </a:tc>
                <a:tc>
                  <a:txBody>
                    <a:bodyPr/>
                    <a:lstStyle/>
                    <a:p>
                      <a:pPr algn="l" indent="0" marL="0">
                        <a:buNone/>
                      </a:pPr>
                      <a:r>
                        <a:rPr lang="en-US" sz="1150" b="1" dirty="0">
                          <a:solidFill>
                            <a:srgbClr val="FFFFFF"/>
                          </a:solidFill>
                          <a:latin typeface="Geist" pitchFamily="34" charset="0"/>
                          <a:ea typeface="Geist" pitchFamily="34" charset="-122"/>
                          <a:cs typeface="Geist" pitchFamily="34" charset="-120"/>
                        </a:rPr>
                        <a:t>Key Variables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solidFill>
                      <a:srgbClr val="1F2A5D"/>
                    </a:solidFill>
                  </a:tcPr>
                </a:tc>
                <a:tc>
                  <a:txBody>
                    <a:bodyPr/>
                    <a:lstStyle/>
                    <a:p>
                      <a:pPr algn="l" indent="0" marL="0">
                        <a:buNone/>
                      </a:pPr>
                      <a:r>
                        <a:rPr lang="en-US" sz="1150" b="1" dirty="0">
                          <a:solidFill>
                            <a:srgbClr val="FFFFFF"/>
                          </a:solidFill>
                          <a:latin typeface="Geist" pitchFamily="34" charset="0"/>
                          <a:ea typeface="Geist" pitchFamily="34" charset="-122"/>
                          <a:cs typeface="Geist" pitchFamily="34" charset="-120"/>
                        </a:rPr>
                        <a:t>Records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solidFill>
                      <a:srgbClr val="1F2A5D"/>
                    </a:solidFill>
                  </a:tcPr>
                </a:tc>
                <a:tc>
                  <a:txBody>
                    <a:bodyPr/>
                    <a:lstStyle/>
                    <a:p>
                      <a:pPr algn="l" indent="0" marL="0">
                        <a:buNone/>
                      </a:pPr>
                      <a:r>
                        <a:rPr lang="en-US" sz="1150" b="1" dirty="0">
                          <a:solidFill>
                            <a:srgbClr val="FFFFFF"/>
                          </a:solidFill>
                          <a:latin typeface="Geist" pitchFamily="34" charset="0"/>
                          <a:ea typeface="Geist" pitchFamily="34" charset="-122"/>
                          <a:cs typeface="Geist" pitchFamily="34" charset="-120"/>
                        </a:rPr>
                        <a:t>Primary Focus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solidFill>
                      <a:srgbClr val="1F2A5D"/>
                    </a:solidFill>
                  </a:tcPr>
                </a:tc>
              </a:tr>
              <a:tr h="553428">
                <a:tc>
                  <a:txBody>
                    <a:bodyPr/>
                    <a:lstStyle/>
                    <a:p>
                      <a:pPr algn="l" indent="0" marL="0">
                        <a:buNone/>
                      </a:pPr>
                      <a:r>
                        <a:rPr lang="en-US" sz="1150" b="1" dirty="0">
                          <a:solidFill>
                            <a:srgbClr val="EBEDF0"/>
                          </a:solidFill>
                          <a:latin typeface="Geist" pitchFamily="34" charset="0"/>
                          <a:ea typeface="Geist" pitchFamily="34" charset="-122"/>
                          <a:cs typeface="Geist" pitchFamily="34" charset="-120"/>
                        </a:rPr>
                        <a:t>Coverage</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Country, year, antigen, target number, doses, coverage %</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b="1" dirty="0">
                          <a:solidFill>
                            <a:srgbClr val="6296FF"/>
                          </a:solidFill>
                          <a:latin typeface="Geist" pitchFamily="34" charset="0"/>
                          <a:ea typeface="Geist" pitchFamily="34" charset="-122"/>
                          <a:cs typeface="Geist" pitchFamily="34" charset="-120"/>
                        </a:rPr>
                        <a:t>399,859</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Vaccination coverage rates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r>
              <a:tr h="553428">
                <a:tc>
                  <a:txBody>
                    <a:bodyPr/>
                    <a:lstStyle/>
                    <a:p>
                      <a:pPr algn="l" indent="0" marL="0">
                        <a:buNone/>
                      </a:pPr>
                      <a:r>
                        <a:rPr lang="en-US" sz="1150" b="1" dirty="0">
                          <a:solidFill>
                            <a:srgbClr val="EBEDF0"/>
                          </a:solidFill>
                          <a:latin typeface="Geist" pitchFamily="34" charset="0"/>
                          <a:ea typeface="Geist" pitchFamily="34" charset="-122"/>
                          <a:cs typeface="Geist" pitchFamily="34" charset="-120"/>
                        </a:rPr>
                        <a:t>Incidence Rate</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Country, year, disease, denominator, incidence rate</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b="1" dirty="0">
                          <a:solidFill>
                            <a:srgbClr val="6296FF"/>
                          </a:solidFill>
                          <a:latin typeface="Geist" pitchFamily="34" charset="0"/>
                          <a:ea typeface="Geist" pitchFamily="34" charset="-122"/>
                          <a:cs typeface="Geist" pitchFamily="34" charset="-120"/>
                        </a:rPr>
                        <a:t>84,946</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Disease burden per population</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r>
              <a:tr h="553428">
                <a:tc>
                  <a:txBody>
                    <a:bodyPr/>
                    <a:lstStyle/>
                    <a:p>
                      <a:pPr algn="l" indent="0" marL="0">
                        <a:buNone/>
                      </a:pPr>
                      <a:r>
                        <a:rPr lang="en-US" sz="1150" b="1" dirty="0">
                          <a:solidFill>
                            <a:srgbClr val="EBEDF0"/>
                          </a:solidFill>
                          <a:latin typeface="Geist" pitchFamily="34" charset="0"/>
                          <a:ea typeface="Geist" pitchFamily="34" charset="-122"/>
                          <a:cs typeface="Geist" pitchFamily="34" charset="-120"/>
                        </a:rPr>
                        <a:t>Reported Cases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Country, year, disease, number of reported cases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b="1" dirty="0">
                          <a:solidFill>
                            <a:srgbClr val="6296FF"/>
                          </a:solidFill>
                          <a:latin typeface="Geist" pitchFamily="34" charset="0"/>
                          <a:ea typeface="Geist" pitchFamily="34" charset="-122"/>
                          <a:cs typeface="Geist" pitchFamily="34" charset="-120"/>
                        </a:rPr>
                        <a:t>84,870</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Absolute case counts by disease</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r>
              <a:tr h="553428">
                <a:tc>
                  <a:txBody>
                    <a:bodyPr/>
                    <a:lstStyle/>
                    <a:p>
                      <a:pPr algn="l" indent="0" marL="0">
                        <a:buNone/>
                      </a:pPr>
                      <a:r>
                        <a:rPr lang="en-US" sz="1150" b="1" dirty="0">
                          <a:solidFill>
                            <a:srgbClr val="EBEDF0"/>
                          </a:solidFill>
                          <a:latin typeface="Geist" pitchFamily="34" charset="0"/>
                          <a:ea typeface="Geist" pitchFamily="34" charset="-122"/>
                          <a:cs typeface="Geist" pitchFamily="34" charset="-120"/>
                        </a:rPr>
                        <a:t>Vaccine Introduction</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Country, WHO region, year, vaccine description</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b="1" dirty="0">
                          <a:solidFill>
                            <a:srgbClr val="6296FF"/>
                          </a:solidFill>
                          <a:latin typeface="Geist" pitchFamily="34" charset="0"/>
                          <a:ea typeface="Geist" pitchFamily="34" charset="-122"/>
                          <a:cs typeface="Geist" pitchFamily="34" charset="-120"/>
                        </a:rPr>
                        <a:t>138,321</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Rollout patterns across regions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r>
              <a:tr h="550253">
                <a:tc>
                  <a:txBody>
                    <a:bodyPr/>
                    <a:lstStyle/>
                    <a:p>
                      <a:pPr algn="l" indent="0" marL="0">
                        <a:buNone/>
                      </a:pPr>
                      <a:r>
                        <a:rPr lang="en-US" sz="1150" b="1" dirty="0">
                          <a:solidFill>
                            <a:srgbClr val="EBEDF0"/>
                          </a:solidFill>
                          <a:latin typeface="Geist" pitchFamily="34" charset="0"/>
                          <a:ea typeface="Geist" pitchFamily="34" charset="-122"/>
                          <a:cs typeface="Geist" pitchFamily="34" charset="-120"/>
                        </a:rPr>
                        <a:t>Vaccine Schedule</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Country, WHO region, year, vaccine code, schedule rounds, target population</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b="1" dirty="0">
                          <a:solidFill>
                            <a:srgbClr val="6296FF"/>
                          </a:solidFill>
                          <a:latin typeface="Geist" pitchFamily="34" charset="0"/>
                          <a:ea typeface="Geist" pitchFamily="34" charset="-122"/>
                          <a:cs typeface="Geist" pitchFamily="34" charset="-120"/>
                        </a:rPr>
                        <a:t>8,053</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150" dirty="0">
                          <a:solidFill>
                            <a:srgbClr val="EBEDF0"/>
                          </a:solidFill>
                          <a:latin typeface="Geist" pitchFamily="34" charset="0"/>
                          <a:ea typeface="Geist" pitchFamily="34" charset="-122"/>
                          <a:cs typeface="Geist" pitchFamily="34" charset="-120"/>
                        </a:rPr>
                        <a:t>Scheduling and target groups</a:t>
                      </a:r>
                      <a:endParaRPr lang="en-US" sz="1150" dirty="0">
                        <a:latin typeface="Geist" charset="0"/>
                        <a:ea typeface="Geist" charset="0"/>
                        <a:cs typeface="Geist" charset="0"/>
                      </a:endParaRPr>
                    </a:p>
                  </a:txBody>
                  <a:tcPr marL="149886" marR="149886" marT="6350" marB="6350" anchor="ctr">
                    <a:lnL w="0" cap="flat" cmpd="sng" algn="ctr">
                      <a:noFill/>
                    </a:lnL>
                    <a:lnR w="0" cap="flat" cmpd="sng" algn="ctr">
                      <a:noFill/>
                    </a:lnR>
                    <a:lnT w="0" cap="flat" cmpd="sng" algn="ctr">
                      <a:noFill/>
                    </a:lnT>
                    <a:lnB w="0" cap="flat" cmpd="sng" algn="ctr">
                      <a:noFill/>
                    </a:lnB>
                  </a:tcPr>
                </a:tc>
              </a:tr>
            </a:tbl>
          </a:graphicData>
        </a:graphic>
      </p:graphicFrame>
      <p:sp>
        <p:nvSpPr>
          <p:cNvPr id="7" name="Shape 4"/>
          <p:cNvSpPr/>
          <p:nvPr/>
        </p:nvSpPr>
        <p:spPr>
          <a:xfrm>
            <a:off x="661475" y="2374949"/>
            <a:ext cx="10868745" cy="9368"/>
          </a:xfrm>
          <a:prstGeom prst="rect">
            <a:avLst/>
          </a:prstGeom>
          <a:solidFill>
            <a:srgbClr val="FFFFFF">
              <a:alpha val="24000"/>
            </a:srgbClr>
          </a:solidFill>
          <a:ln/>
        </p:spPr>
      </p:sp>
      <p:sp>
        <p:nvSpPr>
          <p:cNvPr id="8" name="Shape 5"/>
          <p:cNvSpPr/>
          <p:nvPr/>
        </p:nvSpPr>
        <p:spPr>
          <a:xfrm>
            <a:off x="661475" y="2928377"/>
            <a:ext cx="10868745" cy="9368"/>
          </a:xfrm>
          <a:prstGeom prst="rect">
            <a:avLst/>
          </a:prstGeom>
          <a:solidFill>
            <a:srgbClr val="FFFFFF">
              <a:alpha val="24000"/>
            </a:srgbClr>
          </a:solidFill>
          <a:ln/>
        </p:spPr>
      </p:sp>
      <p:sp>
        <p:nvSpPr>
          <p:cNvPr id="9" name="Shape 6"/>
          <p:cNvSpPr/>
          <p:nvPr/>
        </p:nvSpPr>
        <p:spPr>
          <a:xfrm>
            <a:off x="661475" y="3481805"/>
            <a:ext cx="10868745" cy="9368"/>
          </a:xfrm>
          <a:prstGeom prst="rect">
            <a:avLst/>
          </a:prstGeom>
          <a:solidFill>
            <a:srgbClr val="FFFFFF">
              <a:alpha val="24000"/>
            </a:srgbClr>
          </a:solidFill>
          <a:ln/>
        </p:spPr>
      </p:sp>
      <p:sp>
        <p:nvSpPr>
          <p:cNvPr id="10" name="Shape 7"/>
          <p:cNvSpPr/>
          <p:nvPr/>
        </p:nvSpPr>
        <p:spPr>
          <a:xfrm>
            <a:off x="661475" y="4035234"/>
            <a:ext cx="10868745" cy="9368"/>
          </a:xfrm>
          <a:prstGeom prst="rect">
            <a:avLst/>
          </a:prstGeom>
          <a:solidFill>
            <a:srgbClr val="FFFFFF">
              <a:alpha val="24000"/>
            </a:srgbClr>
          </a:solidFill>
          <a:ln/>
        </p:spPr>
      </p:sp>
      <p:sp>
        <p:nvSpPr>
          <p:cNvPr id="11" name="Shape 8"/>
          <p:cNvSpPr/>
          <p:nvPr/>
        </p:nvSpPr>
        <p:spPr>
          <a:xfrm>
            <a:off x="661475" y="4588662"/>
            <a:ext cx="10868745" cy="9368"/>
          </a:xfrm>
          <a:prstGeom prst="rect">
            <a:avLst/>
          </a:prstGeom>
          <a:solidFill>
            <a:srgbClr val="FFFFFF">
              <a:alpha val="24000"/>
            </a:srgbClr>
          </a:solidFill>
          <a:ln/>
        </p:spPr>
      </p:sp>
      <p:sp>
        <p:nvSpPr>
          <p:cNvPr id="12" name="Shape 9"/>
          <p:cNvSpPr/>
          <p:nvPr/>
        </p:nvSpPr>
        <p:spPr>
          <a:xfrm>
            <a:off x="661475" y="5313859"/>
            <a:ext cx="2615242" cy="1021457"/>
          </a:xfrm>
          <a:prstGeom prst="roundRect">
            <a:avLst>
              <a:gd name="adj" fmla="val 6163"/>
            </a:avLst>
          </a:prstGeom>
          <a:solidFill>
            <a:srgbClr val="101620"/>
          </a:solidFill>
          <a:ln w="12700">
            <a:solidFill>
              <a:srgbClr val="002A80"/>
            </a:solidFill>
            <a:prstDash val="solid"/>
          </a:ln>
        </p:spPr>
      </p:sp>
      <p:sp>
        <p:nvSpPr>
          <p:cNvPr id="13" name="Text 10"/>
          <p:cNvSpPr/>
          <p:nvPr/>
        </p:nvSpPr>
        <p:spPr>
          <a:xfrm>
            <a:off x="823991" y="5476379"/>
            <a:ext cx="2290209" cy="243483"/>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Total Records Analyzed</a:t>
            </a:r>
            <a:endParaRPr lang="en-US" sz="1450" dirty="0"/>
          </a:p>
        </p:txBody>
      </p:sp>
      <p:sp>
        <p:nvSpPr>
          <p:cNvPr id="14" name="Text 11"/>
          <p:cNvSpPr/>
          <p:nvPr/>
        </p:nvSpPr>
        <p:spPr>
          <a:xfrm>
            <a:off x="823991" y="5801320"/>
            <a:ext cx="2290209" cy="371475"/>
          </a:xfrm>
          <a:prstGeom prst="rect">
            <a:avLst/>
          </a:prstGeom>
          <a:noFill/>
          <a:ln/>
        </p:spPr>
        <p:txBody>
          <a:bodyPr wrap="square" lIns="0" tIns="0" rIns="0" bIns="0" rtlCol="0" anchor="t">
            <a:normAutofit/>
          </a:bodyPr>
          <a:lstStyle/>
          <a:p>
            <a:pPr algn="l" indent="0" marL="0">
              <a:lnSpc>
                <a:spcPct val="103000"/>
              </a:lnSpc>
              <a:buNone/>
            </a:pPr>
            <a:r>
              <a:rPr lang="en-US" sz="1150" b="1" dirty="0">
                <a:solidFill>
                  <a:srgbClr val="EBEDF0"/>
                </a:solidFill>
                <a:latin typeface="Geist Bold" pitchFamily="34" charset="0"/>
                <a:ea typeface="Geist Bold" pitchFamily="34" charset="-122"/>
                <a:cs typeface="Geist Bold" pitchFamily="34" charset="-120"/>
              </a:rPr>
              <a:t>716,049</a:t>
            </a:r>
            <a:pPr algn="l" indent="0" marL="0">
              <a:lnSpc>
                <a:spcPct val="103000"/>
              </a:lnSpc>
              <a:buNone/>
            </a:pPr>
            <a:r>
              <a:rPr lang="en-US" sz="1150" dirty="0">
                <a:solidFill>
                  <a:srgbClr val="EBEDF0"/>
                </a:solidFill>
                <a:latin typeface="Geist" pitchFamily="34" charset="0"/>
                <a:ea typeface="Geist" pitchFamily="34" charset="-122"/>
                <a:cs typeface="Geist" pitchFamily="34" charset="-120"/>
              </a:rPr>
              <a:t> records across all five datasets</a:t>
            </a:r>
            <a:endParaRPr lang="en-US" sz="1150" dirty="0"/>
          </a:p>
        </p:txBody>
      </p:sp>
      <p:sp>
        <p:nvSpPr>
          <p:cNvPr id="15" name="Shape 12"/>
          <p:cNvSpPr/>
          <p:nvPr/>
        </p:nvSpPr>
        <p:spPr>
          <a:xfrm>
            <a:off x="3412544" y="5313859"/>
            <a:ext cx="2615341" cy="1021457"/>
          </a:xfrm>
          <a:prstGeom prst="roundRect">
            <a:avLst>
              <a:gd name="adj" fmla="val 6163"/>
            </a:avLst>
          </a:prstGeom>
          <a:solidFill>
            <a:srgbClr val="101620"/>
          </a:solidFill>
          <a:ln w="12700">
            <a:solidFill>
              <a:srgbClr val="002A80"/>
            </a:solidFill>
            <a:prstDash val="solid"/>
          </a:ln>
        </p:spPr>
      </p:sp>
      <p:sp>
        <p:nvSpPr>
          <p:cNvPr id="16" name="Text 13"/>
          <p:cNvSpPr/>
          <p:nvPr/>
        </p:nvSpPr>
        <p:spPr>
          <a:xfrm>
            <a:off x="3575060" y="5476379"/>
            <a:ext cx="2290308" cy="243483"/>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Geographic Scope</a:t>
            </a:r>
            <a:endParaRPr lang="en-US" sz="1450" dirty="0"/>
          </a:p>
        </p:txBody>
      </p:sp>
      <p:sp>
        <p:nvSpPr>
          <p:cNvPr id="17" name="Text 14"/>
          <p:cNvSpPr/>
          <p:nvPr/>
        </p:nvSpPr>
        <p:spPr>
          <a:xfrm>
            <a:off x="3575060" y="5801320"/>
            <a:ext cx="2290308" cy="371475"/>
          </a:xfrm>
          <a:prstGeom prst="rect">
            <a:avLst/>
          </a:prstGeom>
          <a:noFill/>
          <a:ln/>
        </p:spPr>
        <p:txBody>
          <a:bodyPr wrap="square" lIns="0" tIns="0" rIns="0" bIns="0" rtlCol="0" anchor="t">
            <a:normAutofit/>
          </a:bodyPr>
          <a:lstStyle/>
          <a:p>
            <a:pPr algn="l" indent="0" marL="0">
              <a:lnSpc>
                <a:spcPct val="103000"/>
              </a:lnSpc>
              <a:buNone/>
            </a:pPr>
            <a:r>
              <a:rPr lang="en-US" sz="1150" dirty="0">
                <a:solidFill>
                  <a:srgbClr val="EBEDF0"/>
                </a:solidFill>
                <a:latin typeface="Geist" pitchFamily="34" charset="0"/>
                <a:ea typeface="Geist" pitchFamily="34" charset="-122"/>
                <a:cs typeface="Geist" pitchFamily="34" charset="-120"/>
              </a:rPr>
              <a:t>Multiple countries across all </a:t>
            </a:r>
            <a:pPr algn="l" indent="0" marL="0">
              <a:lnSpc>
                <a:spcPct val="103000"/>
              </a:lnSpc>
              <a:buNone/>
            </a:pPr>
            <a:r>
              <a:rPr lang="en-US" sz="1150" b="1" dirty="0">
                <a:solidFill>
                  <a:srgbClr val="EBEDF0"/>
                </a:solidFill>
                <a:latin typeface="Geist Bold" pitchFamily="34" charset="0"/>
                <a:ea typeface="Geist Bold" pitchFamily="34" charset="-122"/>
                <a:cs typeface="Geist Bold" pitchFamily="34" charset="-120"/>
              </a:rPr>
              <a:t>WHO regions</a:t>
            </a:r>
            <a:endParaRPr lang="en-US" sz="1150" dirty="0"/>
          </a:p>
        </p:txBody>
      </p:sp>
      <p:sp>
        <p:nvSpPr>
          <p:cNvPr id="18" name="Shape 15"/>
          <p:cNvSpPr/>
          <p:nvPr/>
        </p:nvSpPr>
        <p:spPr>
          <a:xfrm>
            <a:off x="6163711" y="5313859"/>
            <a:ext cx="2615341" cy="1021457"/>
          </a:xfrm>
          <a:prstGeom prst="roundRect">
            <a:avLst>
              <a:gd name="adj" fmla="val 6163"/>
            </a:avLst>
          </a:prstGeom>
          <a:solidFill>
            <a:srgbClr val="101620"/>
          </a:solidFill>
          <a:ln w="12700">
            <a:solidFill>
              <a:srgbClr val="002A80"/>
            </a:solidFill>
            <a:prstDash val="solid"/>
          </a:ln>
        </p:spPr>
      </p:sp>
      <p:sp>
        <p:nvSpPr>
          <p:cNvPr id="19" name="Text 16"/>
          <p:cNvSpPr/>
          <p:nvPr/>
        </p:nvSpPr>
        <p:spPr>
          <a:xfrm>
            <a:off x="6326228" y="5476379"/>
            <a:ext cx="2290308" cy="243483"/>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Temporal Coverage</a:t>
            </a:r>
            <a:endParaRPr lang="en-US" sz="1450" dirty="0"/>
          </a:p>
        </p:txBody>
      </p:sp>
      <p:sp>
        <p:nvSpPr>
          <p:cNvPr id="20" name="Text 17"/>
          <p:cNvSpPr/>
          <p:nvPr/>
        </p:nvSpPr>
        <p:spPr>
          <a:xfrm>
            <a:off x="6326228" y="5801320"/>
            <a:ext cx="2290308" cy="371475"/>
          </a:xfrm>
          <a:prstGeom prst="rect">
            <a:avLst/>
          </a:prstGeom>
          <a:noFill/>
          <a:ln/>
        </p:spPr>
        <p:txBody>
          <a:bodyPr wrap="square" lIns="0" tIns="0" rIns="0" bIns="0" rtlCol="0" anchor="t">
            <a:normAutofit/>
          </a:bodyPr>
          <a:lstStyle/>
          <a:p>
            <a:pPr algn="l" indent="0" marL="0">
              <a:lnSpc>
                <a:spcPct val="103000"/>
              </a:lnSpc>
              <a:buNone/>
            </a:pPr>
            <a:r>
              <a:rPr lang="en-US" sz="1150" dirty="0">
                <a:solidFill>
                  <a:srgbClr val="EBEDF0"/>
                </a:solidFill>
                <a:latin typeface="Geist" pitchFamily="34" charset="0"/>
                <a:ea typeface="Geist" pitchFamily="34" charset="-122"/>
                <a:cs typeface="Geist" pitchFamily="34" charset="-120"/>
              </a:rPr>
              <a:t>Multi-year longitudinal data enabling </a:t>
            </a:r>
            <a:pPr algn="l" indent="0" marL="0">
              <a:lnSpc>
                <a:spcPct val="103000"/>
              </a:lnSpc>
              <a:buNone/>
            </a:pPr>
            <a:r>
              <a:rPr lang="en-US" sz="1150" b="1" dirty="0">
                <a:solidFill>
                  <a:srgbClr val="EBEDF0"/>
                </a:solidFill>
                <a:latin typeface="Geist Bold" pitchFamily="34" charset="0"/>
                <a:ea typeface="Geist Bold" pitchFamily="34" charset="-122"/>
                <a:cs typeface="Geist Bold" pitchFamily="34" charset="-120"/>
              </a:rPr>
              <a:t>trend analysis</a:t>
            </a:r>
            <a:endParaRPr lang="en-US" sz="1150" dirty="0"/>
          </a:p>
        </p:txBody>
      </p:sp>
      <p:sp>
        <p:nvSpPr>
          <p:cNvPr id="21" name="Shape 18"/>
          <p:cNvSpPr/>
          <p:nvPr/>
        </p:nvSpPr>
        <p:spPr>
          <a:xfrm>
            <a:off x="8914879" y="5313859"/>
            <a:ext cx="2615341" cy="1021457"/>
          </a:xfrm>
          <a:prstGeom prst="roundRect">
            <a:avLst>
              <a:gd name="adj" fmla="val 6163"/>
            </a:avLst>
          </a:prstGeom>
          <a:solidFill>
            <a:srgbClr val="101620"/>
          </a:solidFill>
          <a:ln w="12700">
            <a:solidFill>
              <a:srgbClr val="002A80"/>
            </a:solidFill>
            <a:prstDash val="solid"/>
          </a:ln>
        </p:spPr>
      </p:sp>
      <p:sp>
        <p:nvSpPr>
          <p:cNvPr id="22" name="Text 19"/>
          <p:cNvSpPr/>
          <p:nvPr/>
        </p:nvSpPr>
        <p:spPr>
          <a:xfrm>
            <a:off x="9077396" y="5476379"/>
            <a:ext cx="2290308" cy="243483"/>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Disease Coverage</a:t>
            </a:r>
            <a:endParaRPr lang="en-US" sz="1450" dirty="0"/>
          </a:p>
        </p:txBody>
      </p:sp>
      <p:sp>
        <p:nvSpPr>
          <p:cNvPr id="23" name="Text 20"/>
          <p:cNvSpPr/>
          <p:nvPr/>
        </p:nvSpPr>
        <p:spPr>
          <a:xfrm>
            <a:off x="9077396" y="5801320"/>
            <a:ext cx="2290308" cy="371475"/>
          </a:xfrm>
          <a:prstGeom prst="rect">
            <a:avLst/>
          </a:prstGeom>
          <a:noFill/>
          <a:ln/>
        </p:spPr>
        <p:txBody>
          <a:bodyPr wrap="square" lIns="0" tIns="0" rIns="0" bIns="0" rtlCol="0" anchor="t">
            <a:normAutofit/>
          </a:bodyPr>
          <a:lstStyle/>
          <a:p>
            <a:pPr algn="l" indent="0" marL="0">
              <a:lnSpc>
                <a:spcPct val="103000"/>
              </a:lnSpc>
              <a:buNone/>
            </a:pPr>
            <a:r>
              <a:rPr lang="en-US" sz="1150" dirty="0">
                <a:solidFill>
                  <a:srgbClr val="EBEDF0"/>
                </a:solidFill>
                <a:latin typeface="Geist" pitchFamily="34" charset="0"/>
                <a:ea typeface="Geist" pitchFamily="34" charset="-122"/>
                <a:cs typeface="Geist" pitchFamily="34" charset="-120"/>
              </a:rPr>
              <a:t>Broad range of </a:t>
            </a:r>
            <a:pPr algn="l" indent="0" marL="0">
              <a:lnSpc>
                <a:spcPct val="103000"/>
              </a:lnSpc>
              <a:buNone/>
            </a:pPr>
            <a:r>
              <a:rPr lang="en-US" sz="1150" b="1" dirty="0">
                <a:solidFill>
                  <a:srgbClr val="EBEDF0"/>
                </a:solidFill>
                <a:latin typeface="Geist Bold" pitchFamily="34" charset="0"/>
                <a:ea typeface="Geist Bold" pitchFamily="34" charset="-122"/>
                <a:cs typeface="Geist Bold" pitchFamily="34" charset="-120"/>
              </a:rPr>
              <a:t>vaccine-preventable diseases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464939"/>
            <a:ext cx="954163" cy="204192"/>
          </a:xfrm>
          <a:prstGeom prst="roundRect">
            <a:avLst>
              <a:gd name="adj" fmla="val 22112"/>
            </a:avLst>
          </a:prstGeom>
          <a:solidFill>
            <a:srgbClr val="00194D"/>
          </a:solidFill>
          <a:ln/>
        </p:spPr>
      </p:sp>
      <p:sp>
        <p:nvSpPr>
          <p:cNvPr id="3" name="Text 1"/>
          <p:cNvSpPr/>
          <p:nvPr/>
        </p:nvSpPr>
        <p:spPr>
          <a:xfrm>
            <a:off x="742038" y="505222"/>
            <a:ext cx="1402620" cy="123627"/>
          </a:xfrm>
          <a:prstGeom prst="rect">
            <a:avLst/>
          </a:prstGeom>
          <a:noFill/>
          <a:ln/>
        </p:spPr>
        <p:txBody>
          <a:bodyPr wrap="none" lIns="0" tIns="0" rIns="0" bIns="0" rtlCol="0" anchor="t"/>
          <a:lstStyle/>
          <a:p>
            <a:pPr algn="l" indent="0" marL="0">
              <a:lnSpc>
                <a:spcPct val="96000"/>
              </a:lnSpc>
              <a:buNone/>
            </a:pPr>
            <a:r>
              <a:rPr lang="en-US" sz="800" dirty="0">
                <a:solidFill>
                  <a:srgbClr val="EBEDF0"/>
                </a:solidFill>
                <a:latin typeface="Geist" pitchFamily="34" charset="0"/>
                <a:ea typeface="Geist" pitchFamily="34" charset="-122"/>
                <a:cs typeface="Geist" pitchFamily="34" charset="-120"/>
              </a:rPr>
              <a:t>METHODOLOGY</a:t>
            </a:r>
            <a:endParaRPr lang="en-US" sz="800" dirty="0"/>
          </a:p>
        </p:txBody>
      </p:sp>
      <p:sp>
        <p:nvSpPr>
          <p:cNvPr id="4" name="Text 2"/>
          <p:cNvSpPr/>
          <p:nvPr/>
        </p:nvSpPr>
        <p:spPr>
          <a:xfrm>
            <a:off x="661475" y="712788"/>
            <a:ext cx="10868745" cy="436662"/>
          </a:xfrm>
          <a:prstGeom prst="rect">
            <a:avLst/>
          </a:prstGeom>
          <a:noFill/>
          <a:ln/>
        </p:spPr>
        <p:txBody>
          <a:bodyPr wrap="none" lIns="0" tIns="0" rIns="0" bIns="0" rtlCol="0" anchor="t"/>
          <a:lstStyle/>
          <a:p>
            <a:pPr algn="l" indent="0" marL="0">
              <a:lnSpc>
                <a:spcPct val="108000"/>
              </a:lnSpc>
              <a:buNone/>
            </a:pPr>
            <a:r>
              <a:rPr lang="en-US" sz="2600" b="1" spc="-53" kern="0" dirty="0">
                <a:solidFill>
                  <a:srgbClr val="F2F5FA"/>
                </a:solidFill>
                <a:latin typeface="Geist Bold" pitchFamily="34" charset="0"/>
                <a:ea typeface="Geist Bold" pitchFamily="34" charset="-122"/>
                <a:cs typeface="Geist Bold" pitchFamily="34" charset="-120"/>
              </a:rPr>
              <a:t>Tools, Technologies &amp; Data Pipeline</a:t>
            </a:r>
            <a:endParaRPr lang="en-US" sz="2600" dirty="0"/>
          </a:p>
        </p:txBody>
      </p:sp>
      <p:sp>
        <p:nvSpPr>
          <p:cNvPr id="5" name="Text 3"/>
          <p:cNvSpPr/>
          <p:nvPr/>
        </p:nvSpPr>
        <p:spPr>
          <a:xfrm>
            <a:off x="661475" y="1422301"/>
            <a:ext cx="5270467"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F2F5FA"/>
                </a:solidFill>
                <a:latin typeface="Geist Bold" pitchFamily="34" charset="0"/>
                <a:ea typeface="Geist Bold" pitchFamily="34" charset="-122"/>
                <a:cs typeface="Geist Bold" pitchFamily="34" charset="-120"/>
              </a:rPr>
              <a:t>Technology Stack</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63415"/>
            <a:ext cx="2580615" cy="950714"/>
          </a:xfrm>
          <a:prstGeom prst="rect">
            <a:avLst/>
          </a:prstGeom>
        </p:spPr>
      </p:pic>
      <p:sp>
        <p:nvSpPr>
          <p:cNvPr id="7" name="Text 4"/>
          <p:cNvSpPr/>
          <p:nvPr/>
        </p:nvSpPr>
        <p:spPr>
          <a:xfrm>
            <a:off x="891061" y="1916807"/>
            <a:ext cx="2197640"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Python</a:t>
            </a:r>
            <a:endParaRPr lang="en-US" sz="1300" dirty="0"/>
          </a:p>
        </p:txBody>
      </p:sp>
      <p:sp>
        <p:nvSpPr>
          <p:cNvPr id="8" name="Text 5"/>
          <p:cNvSpPr/>
          <p:nvPr/>
        </p:nvSpPr>
        <p:spPr>
          <a:xfrm>
            <a:off x="891061" y="2244229"/>
            <a:ext cx="2197640" cy="316508"/>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Core programming language for data loading, cleaning, and analysis</a:t>
            </a:r>
            <a:endParaRPr lang="en-US" sz="10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1228" y="1763415"/>
            <a:ext cx="2580714" cy="950714"/>
          </a:xfrm>
          <a:prstGeom prst="rect">
            <a:avLst/>
          </a:prstGeom>
        </p:spPr>
      </p:pic>
      <p:sp>
        <p:nvSpPr>
          <p:cNvPr id="10" name="Text 6"/>
          <p:cNvSpPr/>
          <p:nvPr/>
        </p:nvSpPr>
        <p:spPr>
          <a:xfrm>
            <a:off x="3580814" y="1916807"/>
            <a:ext cx="2197740"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Pandas &amp; NumPy</a:t>
            </a:r>
            <a:endParaRPr lang="en-US" sz="1300" dirty="0"/>
          </a:p>
        </p:txBody>
      </p:sp>
      <p:sp>
        <p:nvSpPr>
          <p:cNvPr id="11" name="Text 7"/>
          <p:cNvSpPr/>
          <p:nvPr/>
        </p:nvSpPr>
        <p:spPr>
          <a:xfrm>
            <a:off x="3580814" y="2244229"/>
            <a:ext cx="2197740" cy="316508"/>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Data manipulation, transformation, and numerical computation</a:t>
            </a:r>
            <a:endParaRPr lang="en-US" sz="10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2823270"/>
            <a:ext cx="2580615" cy="1327249"/>
          </a:xfrm>
          <a:prstGeom prst="rect">
            <a:avLst/>
          </a:prstGeom>
        </p:spPr>
      </p:pic>
      <p:sp>
        <p:nvSpPr>
          <p:cNvPr id="13" name="Text 8"/>
          <p:cNvSpPr/>
          <p:nvPr/>
        </p:nvSpPr>
        <p:spPr>
          <a:xfrm>
            <a:off x="891061" y="2976662"/>
            <a:ext cx="2197640"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Matplotlib &amp; Seaborn</a:t>
            </a:r>
            <a:endParaRPr lang="en-US" sz="1300" dirty="0"/>
          </a:p>
        </p:txBody>
      </p:sp>
      <p:sp>
        <p:nvSpPr>
          <p:cNvPr id="14" name="Text 9"/>
          <p:cNvSpPr/>
          <p:nvPr/>
        </p:nvSpPr>
        <p:spPr>
          <a:xfrm>
            <a:off x="891061" y="3304084"/>
            <a:ext cx="2197640" cy="474762"/>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Statistical visualization — bar charts, scatter plots, heatmaps, violin plots</a:t>
            </a:r>
            <a:endParaRPr lang="en-US" sz="10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1228" y="2823270"/>
            <a:ext cx="2580714" cy="1327249"/>
          </a:xfrm>
          <a:prstGeom prst="rect">
            <a:avLst/>
          </a:prstGeom>
        </p:spPr>
      </p:pic>
      <p:sp>
        <p:nvSpPr>
          <p:cNvPr id="16" name="Text 10"/>
          <p:cNvSpPr/>
          <p:nvPr/>
        </p:nvSpPr>
        <p:spPr>
          <a:xfrm>
            <a:off x="3580814" y="2976662"/>
            <a:ext cx="2197740" cy="436562"/>
          </a:xfrm>
          <a:prstGeom prst="rect">
            <a:avLst/>
          </a:prstGeom>
          <a:noFill/>
          <a:ln/>
        </p:spPr>
        <p:txBody>
          <a:bodyPr wrap="square" lIns="0" tIns="0" rIns="0" bIns="0" rtlCol="0" anchor="t">
            <a:normAutofit/>
          </a:bodyPr>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Jupyter Notebook / JupyterLab</a:t>
            </a:r>
            <a:endParaRPr lang="en-US" sz="1300" dirty="0"/>
          </a:p>
        </p:txBody>
      </p:sp>
      <p:sp>
        <p:nvSpPr>
          <p:cNvPr id="17" name="Text 11"/>
          <p:cNvSpPr/>
          <p:nvPr/>
        </p:nvSpPr>
        <p:spPr>
          <a:xfrm>
            <a:off x="3580814" y="3522365"/>
            <a:ext cx="2197740" cy="474762"/>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Interactive development environment for reproducible analysis</a:t>
            </a:r>
            <a:endParaRPr lang="en-US" sz="10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259659"/>
            <a:ext cx="2580615" cy="950714"/>
          </a:xfrm>
          <a:prstGeom prst="rect">
            <a:avLst/>
          </a:prstGeom>
        </p:spPr>
      </p:pic>
      <p:sp>
        <p:nvSpPr>
          <p:cNvPr id="19" name="Text 12"/>
          <p:cNvSpPr/>
          <p:nvPr/>
        </p:nvSpPr>
        <p:spPr>
          <a:xfrm>
            <a:off x="891061" y="4413052"/>
            <a:ext cx="2197640"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Oracle SQL</a:t>
            </a:r>
            <a:endParaRPr lang="en-US" sz="1300" dirty="0"/>
          </a:p>
        </p:txBody>
      </p:sp>
      <p:sp>
        <p:nvSpPr>
          <p:cNvPr id="20" name="Text 13"/>
          <p:cNvSpPr/>
          <p:nvPr/>
        </p:nvSpPr>
        <p:spPr>
          <a:xfrm>
            <a:off x="891061" y="4740473"/>
            <a:ext cx="2197640" cy="316508"/>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Database querying and structured data retrieval</a:t>
            </a:r>
            <a:endParaRPr lang="en-US" sz="105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51228" y="4259659"/>
            <a:ext cx="2580714" cy="950714"/>
          </a:xfrm>
          <a:prstGeom prst="rect">
            <a:avLst/>
          </a:prstGeom>
        </p:spPr>
      </p:pic>
      <p:sp>
        <p:nvSpPr>
          <p:cNvPr id="22" name="Text 14"/>
          <p:cNvSpPr/>
          <p:nvPr/>
        </p:nvSpPr>
        <p:spPr>
          <a:xfrm>
            <a:off x="3580814" y="4413052"/>
            <a:ext cx="2197740"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Tableau Public</a:t>
            </a:r>
            <a:endParaRPr lang="en-US" sz="1300" dirty="0"/>
          </a:p>
        </p:txBody>
      </p:sp>
      <p:sp>
        <p:nvSpPr>
          <p:cNvPr id="23" name="Text 15"/>
          <p:cNvSpPr/>
          <p:nvPr/>
        </p:nvSpPr>
        <p:spPr>
          <a:xfrm>
            <a:off x="3580814" y="4740473"/>
            <a:ext cx="2197740" cy="316508"/>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Interactive dashboard development for public-facing visualization</a:t>
            </a:r>
            <a:endParaRPr lang="en-US" sz="105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5319514"/>
            <a:ext cx="2580615" cy="950714"/>
          </a:xfrm>
          <a:prstGeom prst="rect">
            <a:avLst/>
          </a:prstGeom>
        </p:spPr>
      </p:pic>
      <p:sp>
        <p:nvSpPr>
          <p:cNvPr id="25" name="Text 16"/>
          <p:cNvSpPr/>
          <p:nvPr/>
        </p:nvSpPr>
        <p:spPr>
          <a:xfrm>
            <a:off x="891061" y="5472906"/>
            <a:ext cx="2197640"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GitHub</a:t>
            </a:r>
            <a:endParaRPr lang="en-US" sz="1300" dirty="0"/>
          </a:p>
        </p:txBody>
      </p:sp>
      <p:sp>
        <p:nvSpPr>
          <p:cNvPr id="26" name="Text 17"/>
          <p:cNvSpPr/>
          <p:nvPr/>
        </p:nvSpPr>
        <p:spPr>
          <a:xfrm>
            <a:off x="891061" y="5800328"/>
            <a:ext cx="2197640" cy="316508"/>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Version control and project collaboration</a:t>
            </a:r>
            <a:endParaRPr lang="en-US" sz="1050" dirty="0"/>
          </a:p>
        </p:txBody>
      </p:sp>
      <p:sp>
        <p:nvSpPr>
          <p:cNvPr id="27" name="Text 18"/>
          <p:cNvSpPr/>
          <p:nvPr/>
        </p:nvSpPr>
        <p:spPr>
          <a:xfrm>
            <a:off x="6266103" y="1422301"/>
            <a:ext cx="5270467"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F2F5FA"/>
                </a:solidFill>
                <a:latin typeface="Geist Bold" pitchFamily="34" charset="0"/>
                <a:ea typeface="Geist Bold" pitchFamily="34" charset="-122"/>
                <a:cs typeface="Geist Bold" pitchFamily="34" charset="-120"/>
              </a:rPr>
              <a:t>Data Processing Pipeline</a:t>
            </a:r>
            <a:endParaRPr lang="en-US" sz="1300" dirty="0"/>
          </a:p>
        </p:txBody>
      </p:sp>
      <p:pic>
        <p:nvPicPr>
          <p:cNvPr id="28" name="Image 7" descr="preencoded.png">    </p:cNvPr>
          <p:cNvPicPr>
            <a:picLocks noChangeAspect="1"/>
          </p:cNvPicPr>
          <p:nvPr/>
        </p:nvPicPr>
        <p:blipFill>
          <a:blip r:embed="rId15"/>
          <a:stretch>
            <a:fillRect/>
          </a:stretch>
        </p:blipFill>
        <p:spPr>
          <a:xfrm>
            <a:off x="6266103" y="1763415"/>
            <a:ext cx="5270467" cy="2412107"/>
          </a:xfrm>
          <a:prstGeom prst="rect">
            <a:avLst/>
          </a:prstGeom>
        </p:spPr>
      </p:pic>
      <p:sp>
        <p:nvSpPr>
          <p:cNvPr id="29" name="Text 19"/>
          <p:cNvSpPr/>
          <p:nvPr/>
        </p:nvSpPr>
        <p:spPr>
          <a:xfrm>
            <a:off x="10301681" y="3598910"/>
            <a:ext cx="989461" cy="198236"/>
          </a:xfrm>
          <a:prstGeom prst="rect">
            <a:avLst/>
          </a:prstGeom>
          <a:noFill/>
          <a:ln/>
        </p:spPr>
        <p:txBody>
          <a:bodyPr wrap="none" lIns="0" tIns="0" rIns="0" bIns="0" rtlCol="0" anchor="t"/>
          <a:lstStyle/>
          <a:p>
            <a:pPr algn="ctr" indent="0" marL="0">
              <a:lnSpc>
                <a:spcPct val="108000"/>
              </a:lnSpc>
              <a:buNone/>
            </a:pPr>
            <a:r>
              <a:rPr lang="en-US" sz="1200" b="1" spc="-24" kern="0" dirty="0">
                <a:solidFill>
                  <a:srgbClr val="EBEDF0"/>
                </a:solidFill>
                <a:latin typeface="Geist Bold" pitchFamily="34" charset="0"/>
                <a:ea typeface="Geist Bold" pitchFamily="34" charset="-122"/>
                <a:cs typeface="Geist Bold" pitchFamily="34" charset="-120"/>
              </a:rPr>
              <a:t>Visualize</a:t>
            </a:r>
            <a:endParaRPr lang="en-US" sz="1200" dirty="0"/>
          </a:p>
        </p:txBody>
      </p:sp>
      <p:sp>
        <p:nvSpPr>
          <p:cNvPr id="30" name="Text 20"/>
          <p:cNvSpPr/>
          <p:nvPr/>
        </p:nvSpPr>
        <p:spPr>
          <a:xfrm>
            <a:off x="9054689" y="3598910"/>
            <a:ext cx="989461" cy="198236"/>
          </a:xfrm>
          <a:prstGeom prst="rect">
            <a:avLst/>
          </a:prstGeom>
          <a:noFill/>
          <a:ln/>
        </p:spPr>
        <p:txBody>
          <a:bodyPr wrap="none" lIns="0" tIns="0" rIns="0" bIns="0" rtlCol="0" anchor="t"/>
          <a:lstStyle/>
          <a:p>
            <a:pPr algn="ctr" indent="0" marL="0">
              <a:lnSpc>
                <a:spcPct val="108000"/>
              </a:lnSpc>
              <a:buNone/>
            </a:pPr>
            <a:r>
              <a:rPr lang="en-US" sz="1200" b="1" spc="-24" kern="0" dirty="0">
                <a:solidFill>
                  <a:srgbClr val="EBEDF0"/>
                </a:solidFill>
                <a:latin typeface="Geist Bold" pitchFamily="34" charset="0"/>
                <a:ea typeface="Geist Bold" pitchFamily="34" charset="-122"/>
                <a:cs typeface="Geist Bold" pitchFamily="34" charset="-120"/>
              </a:rPr>
              <a:t>Analyze</a:t>
            </a:r>
            <a:endParaRPr lang="en-US" sz="1200" dirty="0"/>
          </a:p>
        </p:txBody>
      </p:sp>
      <p:sp>
        <p:nvSpPr>
          <p:cNvPr id="31" name="Text 21"/>
          <p:cNvSpPr/>
          <p:nvPr/>
        </p:nvSpPr>
        <p:spPr>
          <a:xfrm>
            <a:off x="7814475" y="3598910"/>
            <a:ext cx="989461" cy="198236"/>
          </a:xfrm>
          <a:prstGeom prst="rect">
            <a:avLst/>
          </a:prstGeom>
          <a:noFill/>
          <a:ln/>
        </p:spPr>
        <p:txBody>
          <a:bodyPr wrap="none" lIns="0" tIns="0" rIns="0" bIns="0" rtlCol="0" anchor="t"/>
          <a:lstStyle/>
          <a:p>
            <a:pPr algn="ctr" indent="0" marL="0">
              <a:lnSpc>
                <a:spcPct val="108000"/>
              </a:lnSpc>
              <a:buNone/>
            </a:pPr>
            <a:r>
              <a:rPr lang="en-US" sz="1200" b="1" spc="-24" kern="0" dirty="0">
                <a:solidFill>
                  <a:srgbClr val="EBEDF0"/>
                </a:solidFill>
                <a:latin typeface="Geist Bold" pitchFamily="34" charset="0"/>
                <a:ea typeface="Geist Bold" pitchFamily="34" charset="-122"/>
                <a:cs typeface="Geist Bold" pitchFamily="34" charset="-120"/>
              </a:rPr>
              <a:t>Clean</a:t>
            </a:r>
            <a:endParaRPr lang="en-US" sz="1200" dirty="0"/>
          </a:p>
        </p:txBody>
      </p:sp>
      <p:sp>
        <p:nvSpPr>
          <p:cNvPr id="32" name="Text 22"/>
          <p:cNvSpPr/>
          <p:nvPr/>
        </p:nvSpPr>
        <p:spPr>
          <a:xfrm>
            <a:off x="6547151" y="3598910"/>
            <a:ext cx="989461" cy="198236"/>
          </a:xfrm>
          <a:prstGeom prst="rect">
            <a:avLst/>
          </a:prstGeom>
          <a:noFill/>
          <a:ln/>
        </p:spPr>
        <p:txBody>
          <a:bodyPr wrap="none" lIns="0" tIns="0" rIns="0" bIns="0" rtlCol="0" anchor="t"/>
          <a:lstStyle/>
          <a:p>
            <a:pPr algn="ctr" indent="0" marL="0">
              <a:lnSpc>
                <a:spcPct val="108000"/>
              </a:lnSpc>
              <a:buNone/>
            </a:pPr>
            <a:r>
              <a:rPr lang="en-US" sz="1200" b="1" spc="-24" kern="0" dirty="0">
                <a:solidFill>
                  <a:srgbClr val="EBEDF0"/>
                </a:solidFill>
                <a:latin typeface="Geist Bold" pitchFamily="34" charset="0"/>
                <a:ea typeface="Geist Bold" pitchFamily="34" charset="-122"/>
                <a:cs typeface="Geist Bold" pitchFamily="34" charset="-120"/>
              </a:rPr>
              <a:t>Load</a:t>
            </a:r>
            <a:endParaRPr lang="en-US" sz="1200" dirty="0"/>
          </a:p>
        </p:txBody>
      </p:sp>
      <p:sp>
        <p:nvSpPr>
          <p:cNvPr id="33" name="Text 23"/>
          <p:cNvSpPr/>
          <p:nvPr/>
        </p:nvSpPr>
        <p:spPr>
          <a:xfrm>
            <a:off x="6266103" y="4298355"/>
            <a:ext cx="5270467" cy="474762"/>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Each stage of the pipeline was systematically applied across all five datasets to ensure consistent, reliable, and reproducible results before any analytical conclusions were drawn.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07405"/>
            <a:ext cx="901479" cy="211832"/>
          </a:xfrm>
          <a:prstGeom prst="roundRect">
            <a:avLst>
              <a:gd name="adj" fmla="val 22135"/>
            </a:avLst>
          </a:prstGeom>
          <a:solidFill>
            <a:srgbClr val="00194D"/>
          </a:solidFill>
          <a:ln/>
        </p:spPr>
      </p:sp>
      <p:sp>
        <p:nvSpPr>
          <p:cNvPr id="3" name="Text 1"/>
          <p:cNvSpPr/>
          <p:nvPr/>
        </p:nvSpPr>
        <p:spPr>
          <a:xfrm>
            <a:off x="745114" y="549176"/>
            <a:ext cx="1343785" cy="128290"/>
          </a:xfrm>
          <a:prstGeom prst="rect">
            <a:avLst/>
          </a:prstGeom>
          <a:noFill/>
          <a:ln/>
        </p:spPr>
        <p:txBody>
          <a:bodyPr wrap="none" lIns="0" tIns="0" rIns="0" bIns="0" rtlCol="0" anchor="t"/>
          <a:lstStyle/>
          <a:p>
            <a:pPr algn="l" indent="0" marL="0">
              <a:lnSpc>
                <a:spcPct val="96000"/>
              </a:lnSpc>
              <a:buNone/>
            </a:pPr>
            <a:r>
              <a:rPr lang="en-US" sz="850" dirty="0">
                <a:solidFill>
                  <a:srgbClr val="EBEDF0"/>
                </a:solidFill>
                <a:latin typeface="Geist" pitchFamily="34" charset="0"/>
                <a:ea typeface="Geist" pitchFamily="34" charset="-122"/>
                <a:cs typeface="Geist" pitchFamily="34" charset="-120"/>
              </a:rPr>
              <a:t>DATA QUALITY</a:t>
            </a:r>
            <a:endParaRPr lang="en-US" sz="850" dirty="0"/>
          </a:p>
        </p:txBody>
      </p:sp>
      <p:sp>
        <p:nvSpPr>
          <p:cNvPr id="4" name="Text 2"/>
          <p:cNvSpPr/>
          <p:nvPr/>
        </p:nvSpPr>
        <p:spPr>
          <a:xfrm>
            <a:off x="661475" y="766266"/>
            <a:ext cx="10868745" cy="453430"/>
          </a:xfrm>
          <a:prstGeom prst="rect">
            <a:avLst/>
          </a:prstGeom>
          <a:noFill/>
          <a:ln/>
        </p:spPr>
        <p:txBody>
          <a:bodyPr wrap="none" lIns="0" tIns="0" rIns="0" bIns="0" rtlCol="0" anchor="t"/>
          <a:lstStyle/>
          <a:p>
            <a:pPr algn="l" indent="0" marL="0">
              <a:lnSpc>
                <a:spcPct val="108000"/>
              </a:lnSpc>
              <a:buNone/>
            </a:pPr>
            <a:r>
              <a:rPr lang="en-US" sz="2700" b="1" spc="-55" kern="0" dirty="0">
                <a:solidFill>
                  <a:srgbClr val="F2F5FA"/>
                </a:solidFill>
                <a:latin typeface="Geist Bold" pitchFamily="34" charset="0"/>
                <a:ea typeface="Geist Bold" pitchFamily="34" charset="-122"/>
                <a:cs typeface="Geist Bold" pitchFamily="34" charset="-120"/>
              </a:rPr>
              <a:t>Data Cleaning &amp; Missing Value Analysis</a:t>
            </a:r>
            <a:endParaRPr lang="en-US" sz="2700" dirty="0"/>
          </a:p>
        </p:txBody>
      </p:sp>
      <p:sp>
        <p:nvSpPr>
          <p:cNvPr id="5" name="Text 3"/>
          <p:cNvSpPr/>
          <p:nvPr/>
        </p:nvSpPr>
        <p:spPr>
          <a:xfrm>
            <a:off x="661475" y="1513979"/>
            <a:ext cx="5264217"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F2F5FA"/>
                </a:solidFill>
                <a:latin typeface="Geist Bold" pitchFamily="34" charset="0"/>
                <a:ea typeface="Geist Bold" pitchFamily="34" charset="-122"/>
                <a:cs typeface="Geist Bold" pitchFamily="34" charset="-120"/>
              </a:rPr>
              <a:t>Cleaning Steps Applied</a:t>
            </a:r>
            <a:endParaRPr lang="en-US" sz="1350" dirty="0"/>
          </a:p>
        </p:txBody>
      </p:sp>
      <p:sp>
        <p:nvSpPr>
          <p:cNvPr id="6" name="Shape 4"/>
          <p:cNvSpPr/>
          <p:nvPr/>
        </p:nvSpPr>
        <p:spPr>
          <a:xfrm>
            <a:off x="661475" y="1873151"/>
            <a:ext cx="313920" cy="313928"/>
          </a:xfrm>
          <a:prstGeom prst="roundRect">
            <a:avLst>
              <a:gd name="adj" fmla="val 18671"/>
            </a:avLst>
          </a:prstGeom>
          <a:solidFill>
            <a:srgbClr val="101620"/>
          </a:solidFill>
          <a:ln w="12700">
            <a:solidFill>
              <a:srgbClr val="002A80"/>
            </a:solidFill>
            <a:prstDash val="solid"/>
          </a:ln>
        </p:spPr>
      </p:sp>
      <p:sp>
        <p:nvSpPr>
          <p:cNvPr id="7" name="Text 5"/>
          <p:cNvSpPr/>
          <p:nvPr/>
        </p:nvSpPr>
        <p:spPr>
          <a:xfrm>
            <a:off x="713811" y="1894086"/>
            <a:ext cx="209247" cy="272058"/>
          </a:xfrm>
          <a:prstGeom prst="rect">
            <a:avLst/>
          </a:prstGeom>
          <a:noFill/>
          <a:ln/>
        </p:spPr>
        <p:txBody>
          <a:bodyPr wrap="none" lIns="0" tIns="0" rIns="0" bIns="0" rtlCol="0" anchor="ctr"/>
          <a:lstStyle/>
          <a:p>
            <a:pPr algn="ctr" indent="0" marL="0">
              <a:lnSpc>
                <a:spcPct val="100000"/>
              </a:lnSpc>
              <a:buNone/>
            </a:pPr>
            <a:r>
              <a:rPr lang="en-US" sz="1600" b="1" spc="-33" kern="0" dirty="0">
                <a:solidFill>
                  <a:srgbClr val="EBEDF0"/>
                </a:solidFill>
                <a:latin typeface="Geist Bold" pitchFamily="34" charset="0"/>
                <a:ea typeface="Geist Bold" pitchFamily="34" charset="-122"/>
                <a:cs typeface="Geist Bold" pitchFamily="34" charset="-120"/>
              </a:rPr>
              <a:t>1</a:t>
            </a:r>
            <a:endParaRPr lang="en-US" sz="1600" dirty="0"/>
          </a:p>
        </p:txBody>
      </p:sp>
      <p:sp>
        <p:nvSpPr>
          <p:cNvPr id="8" name="Text 6"/>
          <p:cNvSpPr/>
          <p:nvPr/>
        </p:nvSpPr>
        <p:spPr>
          <a:xfrm>
            <a:off x="1093066" y="1916708"/>
            <a:ext cx="4832626"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Load &amp; Inspect</a:t>
            </a:r>
            <a:endParaRPr lang="en-US" sz="1350" dirty="0"/>
          </a:p>
        </p:txBody>
      </p:sp>
      <p:sp>
        <p:nvSpPr>
          <p:cNvPr id="9" name="Text 7"/>
          <p:cNvSpPr/>
          <p:nvPr/>
        </p:nvSpPr>
        <p:spPr>
          <a:xfrm>
            <a:off x="1093066" y="2261096"/>
            <a:ext cx="4832626" cy="334566"/>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Loaded all five datasets using Pandas; examined rows, columns, and data types for each</a:t>
            </a:r>
            <a:endParaRPr lang="en-US" sz="1050" dirty="0"/>
          </a:p>
        </p:txBody>
      </p:sp>
      <p:sp>
        <p:nvSpPr>
          <p:cNvPr id="10" name="Shape 8"/>
          <p:cNvSpPr/>
          <p:nvPr/>
        </p:nvSpPr>
        <p:spPr>
          <a:xfrm>
            <a:off x="661475" y="2831108"/>
            <a:ext cx="313920" cy="313928"/>
          </a:xfrm>
          <a:prstGeom prst="roundRect">
            <a:avLst>
              <a:gd name="adj" fmla="val 18671"/>
            </a:avLst>
          </a:prstGeom>
          <a:solidFill>
            <a:srgbClr val="101620"/>
          </a:solidFill>
          <a:ln w="12700">
            <a:solidFill>
              <a:srgbClr val="002A80"/>
            </a:solidFill>
            <a:prstDash val="solid"/>
          </a:ln>
        </p:spPr>
      </p:sp>
      <p:sp>
        <p:nvSpPr>
          <p:cNvPr id="11" name="Text 9"/>
          <p:cNvSpPr/>
          <p:nvPr/>
        </p:nvSpPr>
        <p:spPr>
          <a:xfrm>
            <a:off x="713811" y="2852043"/>
            <a:ext cx="209247" cy="272058"/>
          </a:xfrm>
          <a:prstGeom prst="rect">
            <a:avLst/>
          </a:prstGeom>
          <a:noFill/>
          <a:ln/>
        </p:spPr>
        <p:txBody>
          <a:bodyPr wrap="none" lIns="0" tIns="0" rIns="0" bIns="0" rtlCol="0" anchor="ctr"/>
          <a:lstStyle/>
          <a:p>
            <a:pPr algn="ctr" indent="0" marL="0">
              <a:lnSpc>
                <a:spcPct val="100000"/>
              </a:lnSpc>
              <a:buNone/>
            </a:pPr>
            <a:r>
              <a:rPr lang="en-US" sz="1600" b="1" spc="-33" kern="0" dirty="0">
                <a:solidFill>
                  <a:srgbClr val="EBEDF0"/>
                </a:solidFill>
                <a:latin typeface="Geist Bold" pitchFamily="34" charset="0"/>
                <a:ea typeface="Geist Bold" pitchFamily="34" charset="-122"/>
                <a:cs typeface="Geist Bold" pitchFamily="34" charset="-120"/>
              </a:rPr>
              <a:t>2</a:t>
            </a:r>
            <a:endParaRPr lang="en-US" sz="1600" dirty="0"/>
          </a:p>
        </p:txBody>
      </p:sp>
      <p:sp>
        <p:nvSpPr>
          <p:cNvPr id="12" name="Text 10"/>
          <p:cNvSpPr/>
          <p:nvPr/>
        </p:nvSpPr>
        <p:spPr>
          <a:xfrm>
            <a:off x="1093066" y="2874665"/>
            <a:ext cx="4832626"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Missing Value Identification</a:t>
            </a:r>
            <a:endParaRPr lang="en-US" sz="1350" dirty="0"/>
          </a:p>
        </p:txBody>
      </p:sp>
      <p:sp>
        <p:nvSpPr>
          <p:cNvPr id="13" name="Text 11"/>
          <p:cNvSpPr/>
          <p:nvPr/>
        </p:nvSpPr>
        <p:spPr>
          <a:xfrm>
            <a:off x="1093066" y="3219053"/>
            <a:ext cx="4832626" cy="167283"/>
          </a:xfrm>
          <a:prstGeom prst="rect">
            <a:avLst/>
          </a:prstGeom>
          <a:noFill/>
          <a:ln/>
        </p:spPr>
        <p:txBody>
          <a:bodyPr wrap="none" lIns="0" tIns="0" rIns="0" bIns="0" rtlCol="0" anchor="t"/>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Quantified missing entries per column across every dataset</a:t>
            </a:r>
            <a:endParaRPr lang="en-US" sz="1050" dirty="0"/>
          </a:p>
        </p:txBody>
      </p:sp>
      <p:sp>
        <p:nvSpPr>
          <p:cNvPr id="14" name="Shape 12"/>
          <p:cNvSpPr/>
          <p:nvPr/>
        </p:nvSpPr>
        <p:spPr>
          <a:xfrm>
            <a:off x="661475" y="3621782"/>
            <a:ext cx="313920" cy="313928"/>
          </a:xfrm>
          <a:prstGeom prst="roundRect">
            <a:avLst>
              <a:gd name="adj" fmla="val 18671"/>
            </a:avLst>
          </a:prstGeom>
          <a:solidFill>
            <a:srgbClr val="101620"/>
          </a:solidFill>
          <a:ln w="12700">
            <a:solidFill>
              <a:srgbClr val="002A80"/>
            </a:solidFill>
            <a:prstDash val="solid"/>
          </a:ln>
        </p:spPr>
      </p:sp>
      <p:sp>
        <p:nvSpPr>
          <p:cNvPr id="15" name="Text 13"/>
          <p:cNvSpPr/>
          <p:nvPr/>
        </p:nvSpPr>
        <p:spPr>
          <a:xfrm>
            <a:off x="713811" y="3642717"/>
            <a:ext cx="209247" cy="272058"/>
          </a:xfrm>
          <a:prstGeom prst="rect">
            <a:avLst/>
          </a:prstGeom>
          <a:noFill/>
          <a:ln/>
        </p:spPr>
        <p:txBody>
          <a:bodyPr wrap="none" lIns="0" tIns="0" rIns="0" bIns="0" rtlCol="0" anchor="ctr"/>
          <a:lstStyle/>
          <a:p>
            <a:pPr algn="ctr" indent="0" marL="0">
              <a:lnSpc>
                <a:spcPct val="100000"/>
              </a:lnSpc>
              <a:buNone/>
            </a:pPr>
            <a:r>
              <a:rPr lang="en-US" sz="1600" b="1" spc="-33" kern="0" dirty="0">
                <a:solidFill>
                  <a:srgbClr val="EBEDF0"/>
                </a:solidFill>
                <a:latin typeface="Geist Bold" pitchFamily="34" charset="0"/>
                <a:ea typeface="Geist Bold" pitchFamily="34" charset="-122"/>
                <a:cs typeface="Geist Bold" pitchFamily="34" charset="-120"/>
              </a:rPr>
              <a:t>3</a:t>
            </a:r>
            <a:endParaRPr lang="en-US" sz="1600" dirty="0"/>
          </a:p>
        </p:txBody>
      </p:sp>
      <p:sp>
        <p:nvSpPr>
          <p:cNvPr id="16" name="Text 14"/>
          <p:cNvSpPr/>
          <p:nvPr/>
        </p:nvSpPr>
        <p:spPr>
          <a:xfrm>
            <a:off x="1093066" y="3665339"/>
            <a:ext cx="4832626"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Type Conversion</a:t>
            </a:r>
            <a:endParaRPr lang="en-US" sz="1350" dirty="0"/>
          </a:p>
        </p:txBody>
      </p:sp>
      <p:sp>
        <p:nvSpPr>
          <p:cNvPr id="17" name="Text 15"/>
          <p:cNvSpPr/>
          <p:nvPr/>
        </p:nvSpPr>
        <p:spPr>
          <a:xfrm>
            <a:off x="1093066" y="4009727"/>
            <a:ext cx="4832626" cy="334566"/>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Converted required columns to appropriate numeric formats for accurate computation</a:t>
            </a:r>
            <a:endParaRPr lang="en-US" sz="1050" dirty="0"/>
          </a:p>
        </p:txBody>
      </p:sp>
      <p:sp>
        <p:nvSpPr>
          <p:cNvPr id="18" name="Shape 16"/>
          <p:cNvSpPr/>
          <p:nvPr/>
        </p:nvSpPr>
        <p:spPr>
          <a:xfrm>
            <a:off x="661475" y="4579739"/>
            <a:ext cx="313920" cy="313928"/>
          </a:xfrm>
          <a:prstGeom prst="roundRect">
            <a:avLst>
              <a:gd name="adj" fmla="val 18671"/>
            </a:avLst>
          </a:prstGeom>
          <a:solidFill>
            <a:srgbClr val="101620"/>
          </a:solidFill>
          <a:ln w="12700">
            <a:solidFill>
              <a:srgbClr val="002A80"/>
            </a:solidFill>
            <a:prstDash val="solid"/>
          </a:ln>
        </p:spPr>
      </p:sp>
      <p:sp>
        <p:nvSpPr>
          <p:cNvPr id="19" name="Text 17"/>
          <p:cNvSpPr/>
          <p:nvPr/>
        </p:nvSpPr>
        <p:spPr>
          <a:xfrm>
            <a:off x="713811" y="4600674"/>
            <a:ext cx="209247" cy="272058"/>
          </a:xfrm>
          <a:prstGeom prst="rect">
            <a:avLst/>
          </a:prstGeom>
          <a:noFill/>
          <a:ln/>
        </p:spPr>
        <p:txBody>
          <a:bodyPr wrap="none" lIns="0" tIns="0" rIns="0" bIns="0" rtlCol="0" anchor="ctr"/>
          <a:lstStyle/>
          <a:p>
            <a:pPr algn="ctr" indent="0" marL="0">
              <a:lnSpc>
                <a:spcPct val="100000"/>
              </a:lnSpc>
              <a:buNone/>
            </a:pPr>
            <a:r>
              <a:rPr lang="en-US" sz="1600" b="1" spc="-33" kern="0" dirty="0">
                <a:solidFill>
                  <a:srgbClr val="EBEDF0"/>
                </a:solidFill>
                <a:latin typeface="Geist Bold" pitchFamily="34" charset="0"/>
                <a:ea typeface="Geist Bold" pitchFamily="34" charset="-122"/>
                <a:cs typeface="Geist Bold" pitchFamily="34" charset="-120"/>
              </a:rPr>
              <a:t>4</a:t>
            </a:r>
            <a:endParaRPr lang="en-US" sz="1600" dirty="0"/>
          </a:p>
        </p:txBody>
      </p:sp>
      <p:sp>
        <p:nvSpPr>
          <p:cNvPr id="20" name="Text 18"/>
          <p:cNvSpPr/>
          <p:nvPr/>
        </p:nvSpPr>
        <p:spPr>
          <a:xfrm>
            <a:off x="1093066" y="4623296"/>
            <a:ext cx="4832626"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Consistency Checks</a:t>
            </a:r>
            <a:endParaRPr lang="en-US" sz="1350" dirty="0"/>
          </a:p>
        </p:txBody>
      </p:sp>
      <p:sp>
        <p:nvSpPr>
          <p:cNvPr id="21" name="Text 19"/>
          <p:cNvSpPr/>
          <p:nvPr/>
        </p:nvSpPr>
        <p:spPr>
          <a:xfrm>
            <a:off x="1093066" y="4967684"/>
            <a:ext cx="4832626" cy="334566"/>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Verified consistency of country names, year ranges, disease labels, and vaccine codes</a:t>
            </a:r>
            <a:endParaRPr lang="en-US" sz="1050" dirty="0"/>
          </a:p>
        </p:txBody>
      </p:sp>
      <p:sp>
        <p:nvSpPr>
          <p:cNvPr id="22" name="Shape 20"/>
          <p:cNvSpPr/>
          <p:nvPr/>
        </p:nvSpPr>
        <p:spPr>
          <a:xfrm>
            <a:off x="661475" y="5434707"/>
            <a:ext cx="5264217" cy="783431"/>
          </a:xfrm>
          <a:prstGeom prst="roundRect">
            <a:avLst>
              <a:gd name="adj" fmla="val 7481"/>
            </a:avLst>
          </a:prstGeom>
          <a:solidFill>
            <a:srgbClr val="022349"/>
          </a:solidFill>
          <a:ln/>
        </p:spPr>
      </p:sp>
      <p:pic>
        <p:nvPicPr>
          <p:cNvPr id="23" name="Image 0" descr="preencoded.png">    </p:cNvPr>
          <p:cNvPicPr>
            <a:picLocks noChangeAspect="1"/>
          </p:cNvPicPr>
          <p:nvPr/>
        </p:nvPicPr>
        <p:blipFill>
          <a:blip r:embed="rId1"/>
          <a:stretch>
            <a:fillRect/>
          </a:stretch>
        </p:blipFill>
        <p:spPr>
          <a:xfrm>
            <a:off x="800973" y="5598418"/>
            <a:ext cx="174422" cy="139502"/>
          </a:xfrm>
          <a:prstGeom prst="rect">
            <a:avLst/>
          </a:prstGeom>
        </p:spPr>
      </p:pic>
      <p:sp>
        <p:nvSpPr>
          <p:cNvPr id="24" name="Text 21"/>
          <p:cNvSpPr/>
          <p:nvPr/>
        </p:nvSpPr>
        <p:spPr>
          <a:xfrm>
            <a:off x="1114893" y="5575498"/>
            <a:ext cx="4671300" cy="501848"/>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FFFFFF"/>
                </a:solidFill>
                <a:latin typeface="Geist" pitchFamily="34" charset="0"/>
                <a:ea typeface="Geist" pitchFamily="34" charset="-122"/>
                <a:cs typeface="Geist" pitchFamily="34" charset="-120"/>
              </a:rPr>
              <a:t>Missing values indicate structurally incomplete reporting — not errors. Available values were retained and carefully interpreted throughout all analyses.</a:t>
            </a:r>
            <a:endParaRPr lang="en-US" sz="1050" dirty="0"/>
          </a:p>
        </p:txBody>
      </p:sp>
      <p:sp>
        <p:nvSpPr>
          <p:cNvPr id="25" name="Text 22"/>
          <p:cNvSpPr/>
          <p:nvPr/>
        </p:nvSpPr>
        <p:spPr>
          <a:xfrm>
            <a:off x="6272353" y="1513979"/>
            <a:ext cx="5264217"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F2F5FA"/>
                </a:solidFill>
                <a:latin typeface="Geist Bold" pitchFamily="34" charset="0"/>
                <a:ea typeface="Geist Bold" pitchFamily="34" charset="-122"/>
                <a:cs typeface="Geist Bold" pitchFamily="34" charset="-120"/>
              </a:rPr>
              <a:t>Missing Value Summary by Dataset</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72353" y="1873151"/>
          <a:ext cx="9143771" cy="914400"/>
        </p:xfrm>
        <a:graphic>
          <a:graphicData uri="http://schemas.openxmlformats.org/drawingml/2006/table">
            <a:tbl>
              <a:tblPr/>
              <a:tblGrid>
                <a:gridCol w="1842476"/>
                <a:gridCol w="1842476"/>
                <a:gridCol w="1579265"/>
              </a:tblGrid>
              <a:tr h="324437">
                <a:tc>
                  <a:txBody>
                    <a:bodyPr/>
                    <a:lstStyle/>
                    <a:p>
                      <a:pPr algn="l" indent="0" marL="0">
                        <a:buNone/>
                      </a:pPr>
                      <a:r>
                        <a:rPr lang="en-US" sz="1050" b="1" dirty="0">
                          <a:solidFill>
                            <a:srgbClr val="FFFFFF"/>
                          </a:solidFill>
                          <a:latin typeface="Geist" pitchFamily="34" charset="0"/>
                          <a:ea typeface="Geist" pitchFamily="34" charset="-122"/>
                          <a:cs typeface="Geist" pitchFamily="34" charset="-120"/>
                        </a:rPr>
                        <a:t>Dataset</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solidFill>
                      <a:srgbClr val="1F2A5D"/>
                    </a:solidFill>
                  </a:tcPr>
                </a:tc>
                <a:tc>
                  <a:txBody>
                    <a:bodyPr/>
                    <a:lstStyle/>
                    <a:p>
                      <a:pPr algn="l" indent="0" marL="0">
                        <a:buNone/>
                      </a:pPr>
                      <a:r>
                        <a:rPr lang="en-US" sz="1050" b="1" dirty="0">
                          <a:solidFill>
                            <a:srgbClr val="FFFFFF"/>
                          </a:solidFill>
                          <a:latin typeface="Geist" pitchFamily="34" charset="0"/>
                          <a:ea typeface="Geist" pitchFamily="34" charset="-122"/>
                          <a:cs typeface="Geist" pitchFamily="34" charset="-120"/>
                        </a:rPr>
                        <a:t>Variable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solidFill>
                      <a:srgbClr val="1F2A5D"/>
                    </a:solidFill>
                  </a:tcPr>
                </a:tc>
                <a:tc>
                  <a:txBody>
                    <a:bodyPr/>
                    <a:lstStyle/>
                    <a:p>
                      <a:pPr algn="l" indent="0" marL="0">
                        <a:buNone/>
                      </a:pPr>
                      <a:r>
                        <a:rPr lang="en-US" sz="1050" b="1" dirty="0">
                          <a:solidFill>
                            <a:srgbClr val="FFFFFF"/>
                          </a:solidFill>
                          <a:latin typeface="Geist" pitchFamily="34" charset="0"/>
                          <a:ea typeface="Geist" pitchFamily="34" charset="-122"/>
                          <a:cs typeface="Geist" pitchFamily="34" charset="-120"/>
                        </a:rPr>
                        <a:t>Missing Count</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solidFill>
                      <a:srgbClr val="1F2A5D"/>
                    </a:solidFill>
                  </a:tcPr>
                </a:tc>
              </a:tr>
              <a:tr h="327612">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Coverage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TARGET_NUMBER</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320,829</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r h="327612">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Coverage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DOSES</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320,532</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r h="327612">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Coverage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COVERAGE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169,382</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r h="327612">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Incidence Rate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INCIDENCE_RATE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23,362</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r h="327612">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Reported Cases</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CASES</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19,400</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r h="327612">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Vaccine Schedule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TARGETPOP</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4,258</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r h="324437">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Vaccine Schedule</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AGEADMINISTERED</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c>
                  <a:txBody>
                    <a:bodyPr/>
                    <a:lstStyle/>
                    <a:p>
                      <a:pPr algn="l" indent="0" marL="0">
                        <a:buNone/>
                      </a:pPr>
                      <a:r>
                        <a:rPr lang="en-US" sz="1050" b="1" dirty="0">
                          <a:solidFill>
                            <a:srgbClr val="6296FF"/>
                          </a:solidFill>
                          <a:latin typeface="Geist" pitchFamily="34" charset="0"/>
                          <a:ea typeface="Geist" pitchFamily="34" charset="-122"/>
                          <a:cs typeface="Geist" pitchFamily="34" charset="-120"/>
                        </a:rPr>
                        <a:t>1,046</a:t>
                      </a:r>
                      <a:endParaRPr lang="en-US" sz="1050" dirty="0">
                        <a:latin typeface="Geist" charset="0"/>
                        <a:ea typeface="Geist" charset="0"/>
                        <a:cs typeface="Geist" charset="0"/>
                      </a:endParaRPr>
                    </a:p>
                  </a:txBody>
                  <a:tcPr marL="139549" marR="139549" marT="6350" marB="6350" anchor="ctr">
                    <a:lnL w="12700" cap="flat" cmpd="sng" algn="ctr">
                      <a:solidFill>
                        <a:srgbClr val="002A80"/>
                      </a:solidFill>
                      <a:prstDash val="solid"/>
                      <a:round/>
                      <a:headEnd type="none" w="med" len="med"/>
                      <a:tailEnd type="none" w="med" len="med"/>
                    </a:lnL>
                    <a:lnR w="12700" cap="flat" cmpd="sng" algn="ctr">
                      <a:solidFill>
                        <a:srgbClr val="002A80"/>
                      </a:solidFill>
                      <a:prstDash val="solid"/>
                      <a:round/>
                      <a:headEnd type="none" w="med" len="med"/>
                      <a:tailEnd type="none" w="med" len="med"/>
                    </a:lnR>
                    <a:lnT w="12700" cap="flat" cmpd="sng" algn="ctr">
                      <a:solidFill>
                        <a:srgbClr val="002A80"/>
                      </a:solidFill>
                      <a:prstDash val="solid"/>
                      <a:round/>
                      <a:headEnd type="none" w="med" len="med"/>
                      <a:tailEnd type="none" w="med" len="med"/>
                    </a:lnT>
                    <a:lnB w="12700" cap="flat" cmpd="sng" algn="ctr">
                      <a:solidFill>
                        <a:srgbClr val="002A80"/>
                      </a:solidFill>
                      <a:prstDash val="solid"/>
                      <a:round/>
                      <a:headEnd type="none" w="med" len="med"/>
                      <a:tailEnd type="none" w="med" len="med"/>
                    </a:lnB>
                  </a:tcPr>
                </a:tc>
              </a:tr>
            </a:tbl>
          </a:graphicData>
        </a:graphic>
      </p:graphicFrame>
      <p:sp>
        <p:nvSpPr>
          <p:cNvPr id="27" name="Text 23"/>
          <p:cNvSpPr/>
          <p:nvPr/>
        </p:nvSpPr>
        <p:spPr>
          <a:xfrm>
            <a:off x="6272353" y="4632920"/>
            <a:ext cx="5264217" cy="267494"/>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EBEDF0"/>
                </a:solidFill>
                <a:latin typeface="Geist" pitchFamily="34" charset="0"/>
                <a:ea typeface="Geist" pitchFamily="34" charset="-122"/>
                <a:cs typeface="Geist" pitchFamily="34" charset="-120"/>
              </a:rPr>
              <a:t>The high missingness in TARGET_NUMBER and DOSES reflects inconsistent national reporting rather than systemic data failure. Reliable data cleaning ensures these gaps do not distort conclusions.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0679"/>
            <a:ext cx="698681" cy="219869"/>
          </a:xfrm>
          <a:prstGeom prst="roundRect">
            <a:avLst>
              <a:gd name="adj" fmla="val 22115"/>
            </a:avLst>
          </a:prstGeom>
          <a:solidFill>
            <a:srgbClr val="00194D"/>
          </a:solidFill>
          <a:ln/>
        </p:spPr>
      </p:sp>
      <p:sp>
        <p:nvSpPr>
          <p:cNvPr id="3" name="Text 1"/>
          <p:cNvSpPr/>
          <p:nvPr/>
        </p:nvSpPr>
        <p:spPr>
          <a:xfrm>
            <a:off x="748289" y="554038"/>
            <a:ext cx="1134637" cy="133152"/>
          </a:xfrm>
          <a:prstGeom prst="rect">
            <a:avLst/>
          </a:prstGeom>
          <a:noFill/>
          <a:ln/>
        </p:spPr>
        <p:txBody>
          <a:bodyPr wrap="none" lIns="0" tIns="0" rIns="0" bIns="0" rtlCol="0" anchor="t"/>
          <a:lstStyle/>
          <a:p>
            <a:pPr algn="l" indent="0" marL="0">
              <a:lnSpc>
                <a:spcPct val="96000"/>
              </a:lnSpc>
              <a:buNone/>
            </a:pPr>
            <a:r>
              <a:rPr lang="en-US" sz="900" dirty="0">
                <a:solidFill>
                  <a:srgbClr val="EBEDF0"/>
                </a:solidFill>
                <a:latin typeface="Geist" pitchFamily="34" charset="0"/>
                <a:ea typeface="Geist" pitchFamily="34" charset="-122"/>
                <a:cs typeface="Geist" pitchFamily="34" charset="-120"/>
              </a:rPr>
              <a:t>ANALYSIS</a:t>
            </a:r>
            <a:endParaRPr lang="en-US" sz="900" dirty="0"/>
          </a:p>
        </p:txBody>
      </p:sp>
      <p:sp>
        <p:nvSpPr>
          <p:cNvPr id="4" name="Text 2"/>
          <p:cNvSpPr/>
          <p:nvPr/>
        </p:nvSpPr>
        <p:spPr>
          <a:xfrm>
            <a:off x="661475" y="781149"/>
            <a:ext cx="10868745" cy="470396"/>
          </a:xfrm>
          <a:prstGeom prst="rect">
            <a:avLst/>
          </a:prstGeom>
          <a:noFill/>
          <a:ln/>
        </p:spPr>
        <p:txBody>
          <a:bodyPr wrap="none" lIns="0" tIns="0" rIns="0" bIns="0" rtlCol="0" anchor="t"/>
          <a:lstStyle/>
          <a:p>
            <a:pPr algn="l" indent="0" marL="0">
              <a:lnSpc>
                <a:spcPct val="108000"/>
              </a:lnSpc>
              <a:buNone/>
            </a:pPr>
            <a:r>
              <a:rPr lang="en-US" sz="2800" b="1" spc="-57" kern="0" dirty="0">
                <a:solidFill>
                  <a:srgbClr val="F2F5FA"/>
                </a:solidFill>
                <a:latin typeface="Geist Bold" pitchFamily="34" charset="0"/>
                <a:ea typeface="Geist Bold" pitchFamily="34" charset="-122"/>
                <a:cs typeface="Geist Bold" pitchFamily="34" charset="-120"/>
              </a:rPr>
              <a:t>Exploratory Data Analysis: Methods &amp; Approach</a:t>
            </a:r>
            <a:endParaRPr lang="en-US" sz="2800" dirty="0"/>
          </a:p>
        </p:txBody>
      </p:sp>
      <p:sp>
        <p:nvSpPr>
          <p:cNvPr id="5" name="Text 3"/>
          <p:cNvSpPr/>
          <p:nvPr/>
        </p:nvSpPr>
        <p:spPr>
          <a:xfrm>
            <a:off x="661475" y="1441450"/>
            <a:ext cx="11478330" cy="176411"/>
          </a:xfrm>
          <a:prstGeom prst="rect">
            <a:avLst/>
          </a:prstGeom>
          <a:noFill/>
          <a:ln/>
        </p:spPr>
        <p:txBody>
          <a:bodyPr wrap="none" lIns="0" tIns="0" rIns="0" bIns="0" rtlCol="0" anchor="t"/>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A diverse suite of visualization techniques was applied to examine the structure, distribution, trends, and inter-variable relationships within the vaccination datasets.</a:t>
            </a:r>
            <a:endParaRPr lang="en-US" sz="11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60240"/>
            <a:ext cx="361743" cy="361752"/>
          </a:xfrm>
          <a:prstGeom prst="rect">
            <a:avLst/>
          </a:prstGeom>
        </p:spPr>
      </p:pic>
      <p:sp>
        <p:nvSpPr>
          <p:cNvPr id="7" name="Text 4"/>
          <p:cNvSpPr/>
          <p:nvPr/>
        </p:nvSpPr>
        <p:spPr>
          <a:xfrm>
            <a:off x="661475" y="2280245"/>
            <a:ext cx="5355198" cy="235049"/>
          </a:xfrm>
          <a:prstGeom prst="rect">
            <a:avLst/>
          </a:prstGeom>
          <a:noFill/>
          <a:ln/>
        </p:spPr>
        <p:txBody>
          <a:bodyPr wrap="none" lIns="0" tIns="0" rIns="0" bIns="0" rtlCol="0" anchor="t"/>
          <a:lstStyle/>
          <a:p>
            <a:pPr algn="l" indent="0" marL="0">
              <a:lnSpc>
                <a:spcPct val="108000"/>
              </a:lnSpc>
              <a:buNone/>
            </a:pPr>
            <a:r>
              <a:rPr lang="en-US" sz="1400" b="1" spc="-28" kern="0" dirty="0">
                <a:solidFill>
                  <a:srgbClr val="EBEDF0"/>
                </a:solidFill>
                <a:latin typeface="Geist Bold" pitchFamily="34" charset="0"/>
                <a:ea typeface="Geist Bold" pitchFamily="34" charset="-122"/>
                <a:cs typeface="Geist Bold" pitchFamily="34" charset="-120"/>
              </a:rPr>
              <a:t>Distribution Charts</a:t>
            </a:r>
            <a:endParaRPr lang="en-US" sz="1400" dirty="0"/>
          </a:p>
        </p:txBody>
      </p:sp>
      <p:sp>
        <p:nvSpPr>
          <p:cNvPr id="8" name="Text 5"/>
          <p:cNvSpPr/>
          <p:nvPr/>
        </p:nvSpPr>
        <p:spPr>
          <a:xfrm>
            <a:off x="661475" y="2591197"/>
            <a:ext cx="5355198" cy="529233"/>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Bar charts and horizontal bar charts reveal frequency distributions across countries, diseases, and vaccine types. Histograms show the spread of continuous variables like coverage percentage and incidence rate.</a:t>
            </a:r>
            <a:endParaRPr lang="en-US" sz="11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4923" y="1760240"/>
            <a:ext cx="361743" cy="361752"/>
          </a:xfrm>
          <a:prstGeom prst="rect">
            <a:avLst/>
          </a:prstGeom>
        </p:spPr>
      </p:pic>
      <p:sp>
        <p:nvSpPr>
          <p:cNvPr id="10" name="Text 6"/>
          <p:cNvSpPr/>
          <p:nvPr/>
        </p:nvSpPr>
        <p:spPr>
          <a:xfrm>
            <a:off x="6174923" y="2280245"/>
            <a:ext cx="5355297" cy="235049"/>
          </a:xfrm>
          <a:prstGeom prst="rect">
            <a:avLst/>
          </a:prstGeom>
          <a:noFill/>
          <a:ln/>
        </p:spPr>
        <p:txBody>
          <a:bodyPr wrap="none" lIns="0" tIns="0" rIns="0" bIns="0" rtlCol="0" anchor="t"/>
          <a:lstStyle/>
          <a:p>
            <a:pPr algn="l" indent="0" marL="0">
              <a:lnSpc>
                <a:spcPct val="108000"/>
              </a:lnSpc>
              <a:buNone/>
            </a:pPr>
            <a:r>
              <a:rPr lang="en-US" sz="1400" b="1" spc="-28" kern="0" dirty="0">
                <a:solidFill>
                  <a:srgbClr val="EBEDF0"/>
                </a:solidFill>
                <a:latin typeface="Geist Bold" pitchFamily="34" charset="0"/>
                <a:ea typeface="Geist Bold" pitchFamily="34" charset="-122"/>
                <a:cs typeface="Geist Bold" pitchFamily="34" charset="-120"/>
              </a:rPr>
              <a:t>Composition Views</a:t>
            </a:r>
            <a:endParaRPr lang="en-US" sz="1400" dirty="0"/>
          </a:p>
        </p:txBody>
      </p:sp>
      <p:sp>
        <p:nvSpPr>
          <p:cNvPr id="11" name="Text 7"/>
          <p:cNvSpPr/>
          <p:nvPr/>
        </p:nvSpPr>
        <p:spPr>
          <a:xfrm>
            <a:off x="6174923" y="2591197"/>
            <a:ext cx="5355297" cy="352822"/>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Pie charts display proportional breakdowns — such as WHO regional distribution of vaccine schedule records — making relative shares immediately interpretable.</a:t>
            </a:r>
            <a:endParaRPr lang="en-US" sz="11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373636"/>
            <a:ext cx="361743" cy="361752"/>
          </a:xfrm>
          <a:prstGeom prst="rect">
            <a:avLst/>
          </a:prstGeom>
        </p:spPr>
      </p:pic>
      <p:sp>
        <p:nvSpPr>
          <p:cNvPr id="13" name="Text 8"/>
          <p:cNvSpPr/>
          <p:nvPr/>
        </p:nvSpPr>
        <p:spPr>
          <a:xfrm>
            <a:off x="661475" y="3893641"/>
            <a:ext cx="5355198" cy="235049"/>
          </a:xfrm>
          <a:prstGeom prst="rect">
            <a:avLst/>
          </a:prstGeom>
          <a:noFill/>
          <a:ln/>
        </p:spPr>
        <p:txBody>
          <a:bodyPr wrap="none" lIns="0" tIns="0" rIns="0" bIns="0" rtlCol="0" anchor="t"/>
          <a:lstStyle/>
          <a:p>
            <a:pPr algn="l" indent="0" marL="0">
              <a:lnSpc>
                <a:spcPct val="108000"/>
              </a:lnSpc>
              <a:buNone/>
            </a:pPr>
            <a:r>
              <a:rPr lang="en-US" sz="1400" b="1" spc="-28" kern="0" dirty="0">
                <a:solidFill>
                  <a:srgbClr val="EBEDF0"/>
                </a:solidFill>
                <a:latin typeface="Geist Bold" pitchFamily="34" charset="0"/>
                <a:ea typeface="Geist Bold" pitchFamily="34" charset="-122"/>
                <a:cs typeface="Geist Bold" pitchFamily="34" charset="-120"/>
              </a:rPr>
              <a:t>Trend Analysis</a:t>
            </a:r>
            <a:endParaRPr lang="en-US" sz="1400" dirty="0"/>
          </a:p>
        </p:txBody>
      </p:sp>
      <p:sp>
        <p:nvSpPr>
          <p:cNvPr id="14" name="Text 9"/>
          <p:cNvSpPr/>
          <p:nvPr/>
        </p:nvSpPr>
        <p:spPr>
          <a:xfrm>
            <a:off x="661475" y="4204593"/>
            <a:ext cx="5355198" cy="529233"/>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Line charts track vaccination coverage, reported cases, and incidence rates across years, revealing longitudinal progress or regression in specific countries or disease groups.</a:t>
            </a:r>
            <a:endParaRPr lang="en-US" sz="11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4923" y="3373636"/>
            <a:ext cx="361743" cy="361752"/>
          </a:xfrm>
          <a:prstGeom prst="rect">
            <a:avLst/>
          </a:prstGeom>
        </p:spPr>
      </p:pic>
      <p:sp>
        <p:nvSpPr>
          <p:cNvPr id="16" name="Text 10"/>
          <p:cNvSpPr/>
          <p:nvPr/>
        </p:nvSpPr>
        <p:spPr>
          <a:xfrm>
            <a:off x="6174923" y="3893641"/>
            <a:ext cx="5355297" cy="235049"/>
          </a:xfrm>
          <a:prstGeom prst="rect">
            <a:avLst/>
          </a:prstGeom>
          <a:noFill/>
          <a:ln/>
        </p:spPr>
        <p:txBody>
          <a:bodyPr wrap="none" lIns="0" tIns="0" rIns="0" bIns="0" rtlCol="0" anchor="t"/>
          <a:lstStyle/>
          <a:p>
            <a:pPr algn="l" indent="0" marL="0">
              <a:lnSpc>
                <a:spcPct val="108000"/>
              </a:lnSpc>
              <a:buNone/>
            </a:pPr>
            <a:r>
              <a:rPr lang="en-US" sz="1400" b="1" spc="-28" kern="0" dirty="0">
                <a:solidFill>
                  <a:srgbClr val="EBEDF0"/>
                </a:solidFill>
                <a:latin typeface="Geist Bold" pitchFamily="34" charset="0"/>
                <a:ea typeface="Geist Bold" pitchFamily="34" charset="-122"/>
                <a:cs typeface="Geist Bold" pitchFamily="34" charset="-120"/>
              </a:rPr>
              <a:t>Relationship Plots</a:t>
            </a:r>
            <a:endParaRPr lang="en-US" sz="1400" dirty="0"/>
          </a:p>
        </p:txBody>
      </p:sp>
      <p:sp>
        <p:nvSpPr>
          <p:cNvPr id="17" name="Text 11"/>
          <p:cNvSpPr/>
          <p:nvPr/>
        </p:nvSpPr>
        <p:spPr>
          <a:xfrm>
            <a:off x="6174923" y="4204593"/>
            <a:ext cx="5355297" cy="529233"/>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Scatter plots examine correlations between variables — such as year vs. schedule rounds, or target population vs. coverage. Box plots and violin plots display distributional spread and outliers.</a:t>
            </a:r>
            <a:endParaRPr lang="en-US" sz="11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987032"/>
            <a:ext cx="361743" cy="361752"/>
          </a:xfrm>
          <a:prstGeom prst="rect">
            <a:avLst/>
          </a:prstGeom>
        </p:spPr>
      </p:pic>
      <p:sp>
        <p:nvSpPr>
          <p:cNvPr id="19" name="Text 12"/>
          <p:cNvSpPr/>
          <p:nvPr/>
        </p:nvSpPr>
        <p:spPr>
          <a:xfrm>
            <a:off x="661475" y="5507038"/>
            <a:ext cx="5355198" cy="235049"/>
          </a:xfrm>
          <a:prstGeom prst="rect">
            <a:avLst/>
          </a:prstGeom>
          <a:noFill/>
          <a:ln/>
        </p:spPr>
        <p:txBody>
          <a:bodyPr wrap="none" lIns="0" tIns="0" rIns="0" bIns="0" rtlCol="0" anchor="t"/>
          <a:lstStyle/>
          <a:p>
            <a:pPr algn="l" indent="0" marL="0">
              <a:lnSpc>
                <a:spcPct val="108000"/>
              </a:lnSpc>
              <a:buNone/>
            </a:pPr>
            <a:r>
              <a:rPr lang="en-US" sz="1400" b="1" spc="-28" kern="0" dirty="0">
                <a:solidFill>
                  <a:srgbClr val="EBEDF0"/>
                </a:solidFill>
                <a:latin typeface="Geist Bold" pitchFamily="34" charset="0"/>
                <a:ea typeface="Geist Bold" pitchFamily="34" charset="-122"/>
                <a:cs typeface="Geist Bold" pitchFamily="34" charset="-120"/>
              </a:rPr>
              <a:t>Correlation Heatmaps</a:t>
            </a:r>
            <a:endParaRPr lang="en-US" sz="1400" dirty="0"/>
          </a:p>
        </p:txBody>
      </p:sp>
      <p:sp>
        <p:nvSpPr>
          <p:cNvPr id="20" name="Text 13"/>
          <p:cNvSpPr/>
          <p:nvPr/>
        </p:nvSpPr>
        <p:spPr>
          <a:xfrm>
            <a:off x="661475" y="5817989"/>
            <a:ext cx="5355198" cy="529233"/>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Heatmaps quantify and visualize pairwise correlations between numeric variables, identifying which factors are most strongly associated with vaccination coverage outcomes.</a:t>
            </a:r>
            <a:endParaRPr lang="en-US" sz="110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74923" y="4987032"/>
            <a:ext cx="361743" cy="361752"/>
          </a:xfrm>
          <a:prstGeom prst="rect">
            <a:avLst/>
          </a:prstGeom>
        </p:spPr>
      </p:pic>
      <p:sp>
        <p:nvSpPr>
          <p:cNvPr id="22" name="Text 14"/>
          <p:cNvSpPr/>
          <p:nvPr/>
        </p:nvSpPr>
        <p:spPr>
          <a:xfrm>
            <a:off x="6174923" y="5507038"/>
            <a:ext cx="5355297" cy="235049"/>
          </a:xfrm>
          <a:prstGeom prst="rect">
            <a:avLst/>
          </a:prstGeom>
          <a:noFill/>
          <a:ln/>
        </p:spPr>
        <p:txBody>
          <a:bodyPr wrap="none" lIns="0" tIns="0" rIns="0" bIns="0" rtlCol="0" anchor="t"/>
          <a:lstStyle/>
          <a:p>
            <a:pPr algn="l" indent="0" marL="0">
              <a:lnSpc>
                <a:spcPct val="108000"/>
              </a:lnSpc>
              <a:buNone/>
            </a:pPr>
            <a:r>
              <a:rPr lang="en-US" sz="1400" b="1" spc="-28" kern="0" dirty="0">
                <a:solidFill>
                  <a:srgbClr val="EBEDF0"/>
                </a:solidFill>
                <a:latin typeface="Geist Bold" pitchFamily="34" charset="0"/>
                <a:ea typeface="Geist Bold" pitchFamily="34" charset="-122"/>
                <a:cs typeface="Geist Bold" pitchFamily="34" charset="-120"/>
              </a:rPr>
              <a:t>Pair Plots</a:t>
            </a:r>
            <a:endParaRPr lang="en-US" sz="1400" dirty="0"/>
          </a:p>
        </p:txBody>
      </p:sp>
      <p:sp>
        <p:nvSpPr>
          <p:cNvPr id="23" name="Text 15"/>
          <p:cNvSpPr/>
          <p:nvPr/>
        </p:nvSpPr>
        <p:spPr>
          <a:xfrm>
            <a:off x="6174923" y="5817989"/>
            <a:ext cx="5355297" cy="529233"/>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EBEDF0"/>
                </a:solidFill>
                <a:latin typeface="Geist" pitchFamily="34" charset="0"/>
                <a:ea typeface="Geist" pitchFamily="34" charset="-122"/>
                <a:cs typeface="Geist" pitchFamily="34" charset="-120"/>
              </a:rPr>
              <a:t>Multivariate pair plots provide a simultaneous view of all pairwise relationships across key numeric variables, supporting holistic pattern recognition across the dataset.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475555"/>
            <a:ext cx="664749" cy="208062"/>
          </a:xfrm>
          <a:prstGeom prst="roundRect">
            <a:avLst>
              <a:gd name="adj" fmla="val 22118"/>
            </a:avLst>
          </a:prstGeom>
          <a:solidFill>
            <a:srgbClr val="00194D"/>
          </a:solidFill>
          <a:ln/>
        </p:spPr>
      </p:sp>
      <p:sp>
        <p:nvSpPr>
          <p:cNvPr id="3" name="Text 1"/>
          <p:cNvSpPr/>
          <p:nvPr/>
        </p:nvSpPr>
        <p:spPr>
          <a:xfrm>
            <a:off x="743626" y="516632"/>
            <a:ext cx="1110032" cy="125909"/>
          </a:xfrm>
          <a:prstGeom prst="rect">
            <a:avLst/>
          </a:prstGeom>
          <a:noFill/>
          <a:ln/>
        </p:spPr>
        <p:txBody>
          <a:bodyPr wrap="none" lIns="0" tIns="0" rIns="0" bIns="0" rtlCol="0" anchor="t"/>
          <a:lstStyle/>
          <a:p>
            <a:pPr algn="l" indent="0" marL="0">
              <a:lnSpc>
                <a:spcPct val="96000"/>
              </a:lnSpc>
              <a:buNone/>
            </a:pPr>
            <a:r>
              <a:rPr lang="en-US" sz="850" dirty="0">
                <a:solidFill>
                  <a:srgbClr val="EBEDF0"/>
                </a:solidFill>
                <a:latin typeface="Geist" pitchFamily="34" charset="0"/>
                <a:ea typeface="Geist" pitchFamily="34" charset="-122"/>
                <a:cs typeface="Geist" pitchFamily="34" charset="-120"/>
              </a:rPr>
              <a:t>FINDINGS</a:t>
            </a:r>
            <a:endParaRPr lang="en-US" sz="850" dirty="0"/>
          </a:p>
        </p:txBody>
      </p:sp>
      <p:sp>
        <p:nvSpPr>
          <p:cNvPr id="4" name="Text 2"/>
          <p:cNvSpPr/>
          <p:nvPr/>
        </p:nvSpPr>
        <p:spPr>
          <a:xfrm>
            <a:off x="661475" y="728960"/>
            <a:ext cx="10868745" cy="445095"/>
          </a:xfrm>
          <a:prstGeom prst="rect">
            <a:avLst/>
          </a:prstGeom>
          <a:noFill/>
          <a:ln/>
        </p:spPr>
        <p:txBody>
          <a:bodyPr wrap="none" lIns="0" tIns="0" rIns="0" bIns="0" rtlCol="0" anchor="t"/>
          <a:lstStyle/>
          <a:p>
            <a:pPr algn="l" indent="0" marL="0">
              <a:lnSpc>
                <a:spcPct val="108000"/>
              </a:lnSpc>
              <a:buNone/>
            </a:pPr>
            <a:r>
              <a:rPr lang="en-US" sz="2650" b="1" spc="-54" kern="0" dirty="0">
                <a:solidFill>
                  <a:srgbClr val="F2F5FA"/>
                </a:solidFill>
                <a:latin typeface="Geist Bold" pitchFamily="34" charset="0"/>
                <a:ea typeface="Geist Bold" pitchFamily="34" charset="-122"/>
                <a:cs typeface="Geist Bold" pitchFamily="34" charset="-120"/>
              </a:rPr>
              <a:t>Vaccination Schedule &amp; Coverage Analysis</a:t>
            </a:r>
            <a:endParaRPr lang="en-US" sz="2650" dirty="0"/>
          </a:p>
        </p:txBody>
      </p:sp>
      <p:sp>
        <p:nvSpPr>
          <p:cNvPr id="5" name="Text 3"/>
          <p:cNvSpPr/>
          <p:nvPr/>
        </p:nvSpPr>
        <p:spPr>
          <a:xfrm>
            <a:off x="661475" y="1457523"/>
            <a:ext cx="5267292"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F2F5FA"/>
                </a:solidFill>
                <a:latin typeface="Geist Bold" pitchFamily="34" charset="0"/>
                <a:ea typeface="Geist Bold" pitchFamily="34" charset="-122"/>
                <a:cs typeface="Geist Bold" pitchFamily="34" charset="-120"/>
              </a:rPr>
              <a:t>Schedule Dataset Findings</a:t>
            </a:r>
            <a:endParaRPr lang="en-US" sz="1300" dirty="0"/>
          </a:p>
        </p:txBody>
      </p:sp>
      <p:sp>
        <p:nvSpPr>
          <p:cNvPr id="6" name="Shape 4"/>
          <p:cNvSpPr/>
          <p:nvPr/>
        </p:nvSpPr>
        <p:spPr>
          <a:xfrm>
            <a:off x="661475" y="1807666"/>
            <a:ext cx="2576944" cy="1623616"/>
          </a:xfrm>
          <a:prstGeom prst="roundRect">
            <a:avLst>
              <a:gd name="adj" fmla="val 3543"/>
            </a:avLst>
          </a:prstGeom>
          <a:solidFill>
            <a:srgbClr val="101620">
              <a:alpha val="95000"/>
            </a:srgbClr>
          </a:solidFill>
          <a:ln w="19050">
            <a:solidFill>
              <a:srgbClr val="002A80"/>
            </a:solidFill>
            <a:prstDash val="solid"/>
          </a:ln>
        </p:spPr>
      </p:sp>
      <p:sp>
        <p:nvSpPr>
          <p:cNvPr id="7" name="Text 5"/>
          <p:cNvSpPr/>
          <p:nvPr/>
        </p:nvSpPr>
        <p:spPr>
          <a:xfrm>
            <a:off x="817443" y="1963638"/>
            <a:ext cx="22650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Records by Year</a:t>
            </a:r>
            <a:endParaRPr lang="en-US" sz="1300" dirty="0"/>
          </a:p>
        </p:txBody>
      </p:sp>
      <p:sp>
        <p:nvSpPr>
          <p:cNvPr id="8" name="Text 6"/>
          <p:cNvSpPr/>
          <p:nvPr/>
        </p:nvSpPr>
        <p:spPr>
          <a:xfrm>
            <a:off x="817443" y="2299593"/>
            <a:ext cx="2265008" cy="975717"/>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Bar chart analysis reveals the distribution of vaccination schedule records across different years, highlighting periods of expanded data reporting and vaccine program growth.</a:t>
            </a:r>
            <a:endParaRPr lang="en-US" sz="1050" dirty="0"/>
          </a:p>
        </p:txBody>
      </p:sp>
      <p:sp>
        <p:nvSpPr>
          <p:cNvPr id="9" name="Shape 7"/>
          <p:cNvSpPr/>
          <p:nvPr/>
        </p:nvSpPr>
        <p:spPr>
          <a:xfrm>
            <a:off x="3351823" y="1807666"/>
            <a:ext cx="2576944" cy="1623616"/>
          </a:xfrm>
          <a:prstGeom prst="roundRect">
            <a:avLst>
              <a:gd name="adj" fmla="val 3543"/>
            </a:avLst>
          </a:prstGeom>
          <a:solidFill>
            <a:srgbClr val="101620">
              <a:alpha val="95000"/>
            </a:srgbClr>
          </a:solidFill>
          <a:ln w="19050">
            <a:solidFill>
              <a:srgbClr val="002A80"/>
            </a:solidFill>
            <a:prstDash val="solid"/>
          </a:ln>
        </p:spPr>
      </p:sp>
      <p:sp>
        <p:nvSpPr>
          <p:cNvPr id="10" name="Text 8"/>
          <p:cNvSpPr/>
          <p:nvPr/>
        </p:nvSpPr>
        <p:spPr>
          <a:xfrm>
            <a:off x="3507791" y="1963638"/>
            <a:ext cx="22650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Top Vaccine Types</a:t>
            </a:r>
            <a:endParaRPr lang="en-US" sz="1300" dirty="0"/>
          </a:p>
        </p:txBody>
      </p:sp>
      <p:sp>
        <p:nvSpPr>
          <p:cNvPr id="11" name="Text 9"/>
          <p:cNvSpPr/>
          <p:nvPr/>
        </p:nvSpPr>
        <p:spPr>
          <a:xfrm>
            <a:off x="3507791" y="2299593"/>
            <a:ext cx="2265008" cy="65047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Bar chart identifies the most frequently recorded vaccine codes — pointing to the antigens with the broadest global scheduling reach.</a:t>
            </a:r>
            <a:endParaRPr lang="en-US" sz="1050" dirty="0"/>
          </a:p>
        </p:txBody>
      </p:sp>
      <p:sp>
        <p:nvSpPr>
          <p:cNvPr id="12" name="Shape 10"/>
          <p:cNvSpPr/>
          <p:nvPr/>
        </p:nvSpPr>
        <p:spPr>
          <a:xfrm>
            <a:off x="661475" y="3544689"/>
            <a:ext cx="2576944" cy="1460996"/>
          </a:xfrm>
          <a:prstGeom prst="roundRect">
            <a:avLst>
              <a:gd name="adj" fmla="val 3937"/>
            </a:avLst>
          </a:prstGeom>
          <a:solidFill>
            <a:srgbClr val="101620">
              <a:alpha val="95000"/>
            </a:srgbClr>
          </a:solidFill>
          <a:ln w="19050">
            <a:solidFill>
              <a:srgbClr val="002A80"/>
            </a:solidFill>
            <a:prstDash val="solid"/>
          </a:ln>
        </p:spPr>
      </p:sp>
      <p:sp>
        <p:nvSpPr>
          <p:cNvPr id="13" name="Text 11"/>
          <p:cNvSpPr/>
          <p:nvPr/>
        </p:nvSpPr>
        <p:spPr>
          <a:xfrm>
            <a:off x="817443" y="3700661"/>
            <a:ext cx="22650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WHO Region Distribution</a:t>
            </a:r>
            <a:endParaRPr lang="en-US" sz="1300" dirty="0"/>
          </a:p>
        </p:txBody>
      </p:sp>
      <p:sp>
        <p:nvSpPr>
          <p:cNvPr id="14" name="Text 12"/>
          <p:cNvSpPr/>
          <p:nvPr/>
        </p:nvSpPr>
        <p:spPr>
          <a:xfrm>
            <a:off x="817443" y="4036616"/>
            <a:ext cx="2265008" cy="81309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Pie chart shows how vaccine schedule records are distributed across WHO regions, revealing regional disparities in schedule documentation and coverage scope.</a:t>
            </a:r>
            <a:endParaRPr lang="en-US" sz="1050" dirty="0"/>
          </a:p>
        </p:txBody>
      </p:sp>
      <p:sp>
        <p:nvSpPr>
          <p:cNvPr id="15" name="Shape 13"/>
          <p:cNvSpPr/>
          <p:nvPr/>
        </p:nvSpPr>
        <p:spPr>
          <a:xfrm>
            <a:off x="3351823" y="3544689"/>
            <a:ext cx="2576944" cy="1460996"/>
          </a:xfrm>
          <a:prstGeom prst="roundRect">
            <a:avLst>
              <a:gd name="adj" fmla="val 3937"/>
            </a:avLst>
          </a:prstGeom>
          <a:solidFill>
            <a:srgbClr val="101620">
              <a:alpha val="95000"/>
            </a:srgbClr>
          </a:solidFill>
          <a:ln w="19050">
            <a:solidFill>
              <a:srgbClr val="002A80"/>
            </a:solidFill>
            <a:prstDash val="solid"/>
          </a:ln>
        </p:spPr>
      </p:sp>
      <p:sp>
        <p:nvSpPr>
          <p:cNvPr id="16" name="Text 14"/>
          <p:cNvSpPr/>
          <p:nvPr/>
        </p:nvSpPr>
        <p:spPr>
          <a:xfrm>
            <a:off x="3507791" y="3700661"/>
            <a:ext cx="22650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Target Population Groups</a:t>
            </a:r>
            <a:endParaRPr lang="en-US" sz="1300" dirty="0"/>
          </a:p>
        </p:txBody>
      </p:sp>
      <p:sp>
        <p:nvSpPr>
          <p:cNvPr id="17" name="Text 15"/>
          <p:cNvSpPr/>
          <p:nvPr/>
        </p:nvSpPr>
        <p:spPr>
          <a:xfrm>
            <a:off x="3507791" y="4036616"/>
            <a:ext cx="2265008" cy="81309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Horizontal bar chart identifies the most frequently recorded target population groups, distinguishing infant, child, and adolescent vaccination priorities.</a:t>
            </a:r>
            <a:endParaRPr lang="en-US" sz="1050" dirty="0"/>
          </a:p>
        </p:txBody>
      </p:sp>
      <p:sp>
        <p:nvSpPr>
          <p:cNvPr id="18" name="Shape 16"/>
          <p:cNvSpPr/>
          <p:nvPr/>
        </p:nvSpPr>
        <p:spPr>
          <a:xfrm>
            <a:off x="661475" y="5119092"/>
            <a:ext cx="5267292" cy="1135757"/>
          </a:xfrm>
          <a:prstGeom prst="roundRect">
            <a:avLst>
              <a:gd name="adj" fmla="val 5065"/>
            </a:avLst>
          </a:prstGeom>
          <a:solidFill>
            <a:srgbClr val="101620">
              <a:alpha val="95000"/>
            </a:srgbClr>
          </a:solidFill>
          <a:ln w="19050">
            <a:solidFill>
              <a:srgbClr val="002A80"/>
            </a:solidFill>
            <a:prstDash val="solid"/>
          </a:ln>
        </p:spPr>
      </p:sp>
      <p:sp>
        <p:nvSpPr>
          <p:cNvPr id="19" name="Text 17"/>
          <p:cNvSpPr/>
          <p:nvPr/>
        </p:nvSpPr>
        <p:spPr>
          <a:xfrm>
            <a:off x="817443" y="5275064"/>
            <a:ext cx="4955357"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Year vs. Schedule Rounds</a:t>
            </a:r>
            <a:endParaRPr lang="en-US" sz="1300" dirty="0"/>
          </a:p>
        </p:txBody>
      </p:sp>
      <p:sp>
        <p:nvSpPr>
          <p:cNvPr id="20" name="Text 18"/>
          <p:cNvSpPr/>
          <p:nvPr/>
        </p:nvSpPr>
        <p:spPr>
          <a:xfrm>
            <a:off x="817443" y="5611019"/>
            <a:ext cx="4955357" cy="487859"/>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Scatter plot examines the relationship between year and the number of vaccination schedule rounds, detecting trends in schedule complexity over time.</a:t>
            </a:r>
            <a:endParaRPr lang="en-US" sz="1050" dirty="0"/>
          </a:p>
        </p:txBody>
      </p:sp>
      <p:sp>
        <p:nvSpPr>
          <p:cNvPr id="21" name="Text 19"/>
          <p:cNvSpPr/>
          <p:nvPr/>
        </p:nvSpPr>
        <p:spPr>
          <a:xfrm>
            <a:off x="6269278" y="1457523"/>
            <a:ext cx="5267292"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F2F5FA"/>
                </a:solidFill>
                <a:latin typeface="Geist Bold" pitchFamily="34" charset="0"/>
                <a:ea typeface="Geist Bold" pitchFamily="34" charset="-122"/>
                <a:cs typeface="Geist Bold" pitchFamily="34" charset="-120"/>
              </a:rPr>
              <a:t>Coverage Dataset Insights</a:t>
            </a:r>
            <a:endParaRPr lang="en-US" sz="1300" dirty="0"/>
          </a:p>
        </p:txBody>
      </p:sp>
      <p:sp>
        <p:nvSpPr>
          <p:cNvPr id="22" name="Text 20"/>
          <p:cNvSpPr/>
          <p:nvPr/>
        </p:nvSpPr>
        <p:spPr>
          <a:xfrm>
            <a:off x="6269278" y="1793478"/>
            <a:ext cx="5267292" cy="325239"/>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With </a:t>
            </a:r>
            <a:pPr algn="l" indent="0" marL="0">
              <a:lnSpc>
                <a:spcPct val="99000"/>
              </a:lnSpc>
              <a:buNone/>
            </a:pPr>
            <a:r>
              <a:rPr lang="en-US" sz="1050" b="1" dirty="0">
                <a:solidFill>
                  <a:srgbClr val="6296FF"/>
                </a:solidFill>
                <a:latin typeface="Geist Bold" pitchFamily="34" charset="0"/>
                <a:ea typeface="Geist Bold" pitchFamily="34" charset="-122"/>
                <a:cs typeface="Geist Bold" pitchFamily="34" charset="-120"/>
              </a:rPr>
              <a:t>399,859 records</a:t>
            </a:r>
            <a:pPr algn="l" indent="0" marL="0">
              <a:lnSpc>
                <a:spcPct val="99000"/>
              </a:lnSpc>
              <a:buNone/>
            </a:pPr>
            <a:r>
              <a:rPr lang="en-US" sz="1050" dirty="0">
                <a:solidFill>
                  <a:srgbClr val="EBEDF0"/>
                </a:solidFill>
                <a:latin typeface="Geist" pitchFamily="34" charset="0"/>
                <a:ea typeface="Geist" pitchFamily="34" charset="-122"/>
                <a:cs typeface="Geist" pitchFamily="34" charset="-120"/>
              </a:rPr>
              <a:t>, the Coverage dataset is the largest and most analytically rich source. Key dimensions examined include:</a:t>
            </a:r>
            <a:endParaRPr lang="en-US" sz="1050" dirty="0"/>
          </a:p>
        </p:txBody>
      </p:sp>
      <p:sp>
        <p:nvSpPr>
          <p:cNvPr id="23" name="Shape 21"/>
          <p:cNvSpPr/>
          <p:nvPr/>
        </p:nvSpPr>
        <p:spPr>
          <a:xfrm>
            <a:off x="6269278" y="2246313"/>
            <a:ext cx="2576944" cy="1448296"/>
          </a:xfrm>
          <a:prstGeom prst="roundRect">
            <a:avLst>
              <a:gd name="adj" fmla="val 3972"/>
            </a:avLst>
          </a:prstGeom>
          <a:solidFill>
            <a:srgbClr val="101620"/>
          </a:solidFill>
          <a:ln w="12700">
            <a:solidFill>
              <a:srgbClr val="002A80"/>
            </a:solidFill>
            <a:prstDash val="solid"/>
          </a:ln>
        </p:spPr>
      </p:sp>
      <p:sp>
        <p:nvSpPr>
          <p:cNvPr id="24" name="Text 22"/>
          <p:cNvSpPr/>
          <p:nvPr/>
        </p:nvSpPr>
        <p:spPr>
          <a:xfrm>
            <a:off x="6418896" y="2395934"/>
            <a:ext cx="22777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Country-Level Coverage</a:t>
            </a:r>
            <a:endParaRPr lang="en-US" sz="1300" dirty="0"/>
          </a:p>
        </p:txBody>
      </p:sp>
      <p:sp>
        <p:nvSpPr>
          <p:cNvPr id="25" name="Text 23"/>
          <p:cNvSpPr/>
          <p:nvPr/>
        </p:nvSpPr>
        <p:spPr>
          <a:xfrm>
            <a:off x="6418896" y="2731889"/>
            <a:ext cx="2277708" cy="81309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Comparative analysis of coverage percentages reveals wide disparities between high-income and low-income countries for the same antigen.</a:t>
            </a:r>
            <a:endParaRPr lang="en-US" sz="1050" dirty="0"/>
          </a:p>
        </p:txBody>
      </p:sp>
      <p:sp>
        <p:nvSpPr>
          <p:cNvPr id="26" name="Shape 24"/>
          <p:cNvSpPr/>
          <p:nvPr/>
        </p:nvSpPr>
        <p:spPr>
          <a:xfrm>
            <a:off x="8959626" y="2246313"/>
            <a:ext cx="2576944" cy="1448296"/>
          </a:xfrm>
          <a:prstGeom prst="roundRect">
            <a:avLst>
              <a:gd name="adj" fmla="val 3972"/>
            </a:avLst>
          </a:prstGeom>
          <a:solidFill>
            <a:srgbClr val="101620"/>
          </a:solidFill>
          <a:ln w="12700">
            <a:solidFill>
              <a:srgbClr val="002A80"/>
            </a:solidFill>
            <a:prstDash val="solid"/>
          </a:ln>
        </p:spPr>
      </p:sp>
      <p:sp>
        <p:nvSpPr>
          <p:cNvPr id="27" name="Text 25"/>
          <p:cNvSpPr/>
          <p:nvPr/>
        </p:nvSpPr>
        <p:spPr>
          <a:xfrm>
            <a:off x="9109244" y="2395934"/>
            <a:ext cx="22777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Year-Over-Year Trends</a:t>
            </a:r>
            <a:endParaRPr lang="en-US" sz="1300" dirty="0"/>
          </a:p>
        </p:txBody>
      </p:sp>
      <p:sp>
        <p:nvSpPr>
          <p:cNvPr id="28" name="Text 26"/>
          <p:cNvSpPr/>
          <p:nvPr/>
        </p:nvSpPr>
        <p:spPr>
          <a:xfrm>
            <a:off x="9109244" y="2731889"/>
            <a:ext cx="2277708" cy="65047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Longitudinal line charts track whether national coverage rates are improving, plateauing, or declining for priority vaccines.</a:t>
            </a:r>
            <a:endParaRPr lang="en-US" sz="1050" dirty="0"/>
          </a:p>
        </p:txBody>
      </p:sp>
      <p:sp>
        <p:nvSpPr>
          <p:cNvPr id="29" name="Shape 27"/>
          <p:cNvSpPr/>
          <p:nvPr/>
        </p:nvSpPr>
        <p:spPr>
          <a:xfrm>
            <a:off x="6269278" y="3808016"/>
            <a:ext cx="2576944" cy="1508224"/>
          </a:xfrm>
          <a:prstGeom prst="roundRect">
            <a:avLst>
              <a:gd name="adj" fmla="val 3814"/>
            </a:avLst>
          </a:prstGeom>
          <a:solidFill>
            <a:srgbClr val="101620"/>
          </a:solidFill>
          <a:ln w="12700">
            <a:solidFill>
              <a:srgbClr val="002A80"/>
            </a:solidFill>
            <a:prstDash val="solid"/>
          </a:ln>
        </p:spPr>
      </p:sp>
      <p:sp>
        <p:nvSpPr>
          <p:cNvPr id="30" name="Text 28"/>
          <p:cNvSpPr/>
          <p:nvPr/>
        </p:nvSpPr>
        <p:spPr>
          <a:xfrm>
            <a:off x="6418896" y="3957638"/>
            <a:ext cx="2277708" cy="222548"/>
          </a:xfrm>
          <a:prstGeom prst="rect">
            <a:avLst/>
          </a:prstGeom>
          <a:noFill/>
          <a:ln/>
        </p:spPr>
        <p:txBody>
          <a:bodyPr wrap="none" lIns="0" tIns="0" rIns="0" bIns="0" rtlCol="0" anchor="t"/>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Antigen-Level Breakdown</a:t>
            </a:r>
            <a:endParaRPr lang="en-US" sz="1300" dirty="0"/>
          </a:p>
        </p:txBody>
      </p:sp>
      <p:sp>
        <p:nvSpPr>
          <p:cNvPr id="31" name="Text 29"/>
          <p:cNvSpPr/>
          <p:nvPr/>
        </p:nvSpPr>
        <p:spPr>
          <a:xfrm>
            <a:off x="6418896" y="4293592"/>
            <a:ext cx="2277708" cy="81309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Distribution of coverage across different antigens identifies which vaccines have achieved broad population protection and which lag behind.</a:t>
            </a:r>
            <a:endParaRPr lang="en-US" sz="1050" dirty="0"/>
          </a:p>
        </p:txBody>
      </p:sp>
      <p:sp>
        <p:nvSpPr>
          <p:cNvPr id="32" name="Shape 30"/>
          <p:cNvSpPr/>
          <p:nvPr/>
        </p:nvSpPr>
        <p:spPr>
          <a:xfrm>
            <a:off x="8959626" y="3808016"/>
            <a:ext cx="2576944" cy="1508224"/>
          </a:xfrm>
          <a:prstGeom prst="roundRect">
            <a:avLst>
              <a:gd name="adj" fmla="val 3814"/>
            </a:avLst>
          </a:prstGeom>
          <a:solidFill>
            <a:srgbClr val="101620"/>
          </a:solidFill>
          <a:ln w="12700">
            <a:solidFill>
              <a:srgbClr val="002A80"/>
            </a:solidFill>
            <a:prstDash val="solid"/>
          </a:ln>
        </p:spPr>
      </p:sp>
      <p:sp>
        <p:nvSpPr>
          <p:cNvPr id="33" name="Text 31"/>
          <p:cNvSpPr/>
          <p:nvPr/>
        </p:nvSpPr>
        <p:spPr>
          <a:xfrm>
            <a:off x="9109244" y="3957638"/>
            <a:ext cx="2277708" cy="445095"/>
          </a:xfrm>
          <a:prstGeom prst="rect">
            <a:avLst/>
          </a:prstGeom>
          <a:noFill/>
          <a:ln/>
        </p:spPr>
        <p:txBody>
          <a:bodyPr wrap="square" lIns="0" tIns="0" rIns="0" bIns="0" rtlCol="0" anchor="t">
            <a:normAutofit/>
          </a:bodyPr>
          <a:lstStyle/>
          <a:p>
            <a:pPr algn="l" indent="0" marL="0">
              <a:lnSpc>
                <a:spcPct val="108000"/>
              </a:lnSpc>
              <a:buNone/>
            </a:pPr>
            <a:r>
              <a:rPr lang="en-US" sz="1300" b="1" spc="-27" kern="0" dirty="0">
                <a:solidFill>
                  <a:srgbClr val="EBEDF0"/>
                </a:solidFill>
                <a:latin typeface="Geist Bold" pitchFamily="34" charset="0"/>
                <a:ea typeface="Geist Bold" pitchFamily="34" charset="-122"/>
                <a:cs typeface="Geist Bold" pitchFamily="34" charset="-120"/>
              </a:rPr>
              <a:t>Doses vs. Coverage Relationship</a:t>
            </a:r>
            <a:endParaRPr lang="en-US" sz="1300" dirty="0"/>
          </a:p>
        </p:txBody>
      </p:sp>
      <p:sp>
        <p:nvSpPr>
          <p:cNvPr id="34" name="Text 32"/>
          <p:cNvSpPr/>
          <p:nvPr/>
        </p:nvSpPr>
        <p:spPr>
          <a:xfrm>
            <a:off x="9109244" y="4516140"/>
            <a:ext cx="2277708" cy="650478"/>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EBEDF0"/>
                </a:solidFill>
                <a:latin typeface="Geist" pitchFamily="34" charset="0"/>
                <a:ea typeface="Geist" pitchFamily="34" charset="-122"/>
                <a:cs typeface="Geist" pitchFamily="34" charset="-120"/>
              </a:rPr>
              <a:t>Scatter and correlation analysis examines whether higher dose counts reliably translate into higher reported coverage percentages.</a:t>
            </a:r>
            <a:endParaRPr lang="en-US" sz="1050" dirty="0"/>
          </a:p>
        </p:txBody>
      </p:sp>
      <p:sp>
        <p:nvSpPr>
          <p:cNvPr id="35" name="Shape 33"/>
          <p:cNvSpPr/>
          <p:nvPr/>
        </p:nvSpPr>
        <p:spPr>
          <a:xfrm>
            <a:off x="6269278" y="5443835"/>
            <a:ext cx="5267292" cy="760313"/>
          </a:xfrm>
          <a:prstGeom prst="roundRect">
            <a:avLst>
              <a:gd name="adj" fmla="val 7566"/>
            </a:avLst>
          </a:prstGeom>
          <a:solidFill>
            <a:srgbClr val="002A80"/>
          </a:solidFill>
          <a:ln/>
        </p:spPr>
      </p:sp>
      <p:pic>
        <p:nvPicPr>
          <p:cNvPr id="36" name="Image 0" descr="preencoded.png">    </p:cNvPr>
          <p:cNvPicPr>
            <a:picLocks noChangeAspect="1"/>
          </p:cNvPicPr>
          <p:nvPr/>
        </p:nvPicPr>
        <p:blipFill>
          <a:blip r:embed="rId1"/>
          <a:stretch>
            <a:fillRect/>
          </a:stretch>
        </p:blipFill>
        <p:spPr>
          <a:xfrm>
            <a:off x="6406196" y="5598616"/>
            <a:ext cx="171148" cy="136922"/>
          </a:xfrm>
          <a:prstGeom prst="rect">
            <a:avLst/>
          </a:prstGeom>
        </p:spPr>
      </p:pic>
      <p:sp>
        <p:nvSpPr>
          <p:cNvPr id="37" name="Text 34"/>
          <p:cNvSpPr/>
          <p:nvPr/>
        </p:nvSpPr>
        <p:spPr>
          <a:xfrm>
            <a:off x="6714262" y="5580063"/>
            <a:ext cx="4685389" cy="487859"/>
          </a:xfrm>
          <a:prstGeom prst="rect">
            <a:avLst/>
          </a:prstGeom>
          <a:noFill/>
          <a:ln/>
        </p:spPr>
        <p:txBody>
          <a:bodyPr wrap="square" lIns="0" tIns="0" rIns="0" bIns="0" rtlCol="0" anchor="t">
            <a:normAutofit/>
          </a:bodyPr>
          <a:lstStyle/>
          <a:p>
            <a:pPr algn="l" indent="0" marL="0">
              <a:lnSpc>
                <a:spcPct val="99000"/>
              </a:lnSpc>
              <a:buNone/>
            </a:pPr>
            <a:r>
              <a:rPr lang="en-US" sz="1050" dirty="0">
                <a:solidFill>
                  <a:srgbClr val="FFFFFF"/>
                </a:solidFill>
                <a:latin typeface="Geist" pitchFamily="34" charset="0"/>
                <a:ea typeface="Geist" pitchFamily="34" charset="-122"/>
                <a:cs typeface="Geist" pitchFamily="34" charset="-120"/>
              </a:rPr>
              <a:t>Coverage data missingness (TARGET_NUMBER: 320,829 missing) was carefully managed — analysis focused on records with complete coverage percentage values to ensure statistical reliability.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466923"/>
            <a:ext cx="677151" cy="211832"/>
          </a:xfrm>
          <a:prstGeom prst="roundRect">
            <a:avLst>
              <a:gd name="adj" fmla="val 22135"/>
            </a:avLst>
          </a:prstGeom>
          <a:solidFill>
            <a:srgbClr val="00194D"/>
          </a:solidFill>
          <a:ln/>
        </p:spPr>
      </p:sp>
      <p:sp>
        <p:nvSpPr>
          <p:cNvPr id="3" name="Text 1"/>
          <p:cNvSpPr/>
          <p:nvPr/>
        </p:nvSpPr>
        <p:spPr>
          <a:xfrm>
            <a:off x="745114" y="508695"/>
            <a:ext cx="1119457" cy="128290"/>
          </a:xfrm>
          <a:prstGeom prst="rect">
            <a:avLst/>
          </a:prstGeom>
          <a:noFill/>
          <a:ln/>
        </p:spPr>
        <p:txBody>
          <a:bodyPr wrap="none" lIns="0" tIns="0" rIns="0" bIns="0" rtlCol="0" anchor="t"/>
          <a:lstStyle/>
          <a:p>
            <a:pPr algn="l" indent="0" marL="0">
              <a:lnSpc>
                <a:spcPct val="96000"/>
              </a:lnSpc>
              <a:buNone/>
            </a:pPr>
            <a:r>
              <a:rPr lang="en-US" sz="850" dirty="0">
                <a:solidFill>
                  <a:srgbClr val="EBEDF0"/>
                </a:solidFill>
                <a:latin typeface="Geist" pitchFamily="34" charset="0"/>
                <a:ea typeface="Geist" pitchFamily="34" charset="-122"/>
                <a:cs typeface="Geist" pitchFamily="34" charset="-120"/>
              </a:rPr>
              <a:t>FINDINGS</a:t>
            </a:r>
            <a:endParaRPr lang="en-US" sz="850" dirty="0"/>
          </a:p>
        </p:txBody>
      </p:sp>
      <p:sp>
        <p:nvSpPr>
          <p:cNvPr id="4" name="Text 2"/>
          <p:cNvSpPr/>
          <p:nvPr/>
        </p:nvSpPr>
        <p:spPr>
          <a:xfrm>
            <a:off x="661475" y="725785"/>
            <a:ext cx="10868745" cy="453430"/>
          </a:xfrm>
          <a:prstGeom prst="rect">
            <a:avLst/>
          </a:prstGeom>
          <a:noFill/>
          <a:ln/>
        </p:spPr>
        <p:txBody>
          <a:bodyPr wrap="none" lIns="0" tIns="0" rIns="0" bIns="0" rtlCol="0" anchor="t"/>
          <a:lstStyle/>
          <a:p>
            <a:pPr algn="l" indent="0" marL="0">
              <a:lnSpc>
                <a:spcPct val="108000"/>
              </a:lnSpc>
              <a:buNone/>
            </a:pPr>
            <a:r>
              <a:rPr lang="en-US" sz="2700" b="1" spc="-55" kern="0" dirty="0">
                <a:solidFill>
                  <a:srgbClr val="F2F5FA"/>
                </a:solidFill>
                <a:latin typeface="Geist Bold" pitchFamily="34" charset="0"/>
                <a:ea typeface="Geist Bold" pitchFamily="34" charset="-122"/>
                <a:cs typeface="Geist Bold" pitchFamily="34" charset="-120"/>
              </a:rPr>
              <a:t>Disease Incidence &amp; Vaccine Introduction Analysis</a:t>
            </a:r>
            <a:endParaRPr lang="en-US" sz="2700" dirty="0"/>
          </a:p>
        </p:txBody>
      </p:sp>
      <p:sp>
        <p:nvSpPr>
          <p:cNvPr id="5" name="Text 3"/>
          <p:cNvSpPr/>
          <p:nvPr/>
        </p:nvSpPr>
        <p:spPr>
          <a:xfrm>
            <a:off x="661475" y="1473498"/>
            <a:ext cx="5264217"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F2F5FA"/>
                </a:solidFill>
                <a:latin typeface="Geist Bold" pitchFamily="34" charset="0"/>
                <a:ea typeface="Geist Bold" pitchFamily="34" charset="-122"/>
                <a:cs typeface="Geist Bold" pitchFamily="34" charset="-120"/>
              </a:rPr>
              <a:t>Incidence Rate &amp; Reported Cases</a:t>
            </a:r>
            <a:endParaRPr lang="en-US" sz="13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1813620"/>
            <a:ext cx="5283266" cy="1051620"/>
          </a:xfrm>
          <a:prstGeom prst="rect">
            <a:avLst/>
          </a:prstGeom>
        </p:spPr>
      </p:pic>
      <p:sp>
        <p:nvSpPr>
          <p:cNvPr id="7" name="Text 4"/>
          <p:cNvSpPr/>
          <p:nvPr/>
        </p:nvSpPr>
        <p:spPr>
          <a:xfrm>
            <a:off x="839072" y="1832670"/>
            <a:ext cx="5086620"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Disease Incidence Patterns</a:t>
            </a:r>
            <a:endParaRPr lang="en-US" sz="1350" dirty="0"/>
          </a:p>
        </p:txBody>
      </p:sp>
      <p:sp>
        <p:nvSpPr>
          <p:cNvPr id="8" name="Text 5"/>
          <p:cNvSpPr/>
          <p:nvPr/>
        </p:nvSpPr>
        <p:spPr>
          <a:xfrm>
            <a:off x="839072" y="2177058"/>
            <a:ext cx="5086620" cy="669131"/>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The </a:t>
            </a:r>
            <a:pPr algn="l" indent="0" marL="0">
              <a:lnSpc>
                <a:spcPct val="100000"/>
              </a:lnSpc>
              <a:buNone/>
            </a:pPr>
            <a:r>
              <a:rPr lang="en-US" sz="1050" b="1" dirty="0">
                <a:solidFill>
                  <a:srgbClr val="EBEDF0"/>
                </a:solidFill>
                <a:latin typeface="Geist Bold" pitchFamily="34" charset="0"/>
                <a:ea typeface="Geist Bold" pitchFamily="34" charset="-122"/>
                <a:cs typeface="Geist Bold" pitchFamily="34" charset="-120"/>
              </a:rPr>
              <a:t>Incidence Rate Dataset</a:t>
            </a:r>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 (84,946 records) was analyzed using line charts and bar charts to identify diseases with the highest burden per population. Incidence rates were compared across countries and years to isolate persistent high-burden diseases.</a:t>
            </a:r>
            <a:endParaRPr lang="en-US" sz="10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2425" y="3062585"/>
            <a:ext cx="5283266" cy="1051620"/>
          </a:xfrm>
          <a:prstGeom prst="rect">
            <a:avLst/>
          </a:prstGeom>
        </p:spPr>
      </p:pic>
      <p:sp>
        <p:nvSpPr>
          <p:cNvPr id="10" name="Text 6"/>
          <p:cNvSpPr/>
          <p:nvPr/>
        </p:nvSpPr>
        <p:spPr>
          <a:xfrm>
            <a:off x="839072" y="3081635"/>
            <a:ext cx="5086620"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Reported Case Counts</a:t>
            </a:r>
            <a:endParaRPr lang="en-US" sz="1350" dirty="0"/>
          </a:p>
        </p:txBody>
      </p:sp>
      <p:sp>
        <p:nvSpPr>
          <p:cNvPr id="11" name="Text 7"/>
          <p:cNvSpPr/>
          <p:nvPr/>
        </p:nvSpPr>
        <p:spPr>
          <a:xfrm>
            <a:off x="839072" y="3426023"/>
            <a:ext cx="5086620" cy="669131"/>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The </a:t>
            </a:r>
            <a:pPr algn="l" indent="0" marL="0">
              <a:lnSpc>
                <a:spcPct val="100000"/>
              </a:lnSpc>
              <a:buNone/>
            </a:pPr>
            <a:r>
              <a:rPr lang="en-US" sz="1050" b="1" dirty="0">
                <a:solidFill>
                  <a:srgbClr val="EBEDF0"/>
                </a:solidFill>
                <a:latin typeface="Geist Bold" pitchFamily="34" charset="0"/>
                <a:ea typeface="Geist Bold" pitchFamily="34" charset="-122"/>
                <a:cs typeface="Geist Bold" pitchFamily="34" charset="-120"/>
              </a:rPr>
              <a:t>Reported Cases Dataset</a:t>
            </a:r>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 (84,870 records) reveals absolute case volumes by disease and country. Bar charts identify diseases with the highest reported case counts — distinguishing high-incidence diseases from those with concentrated geographic burden.</a:t>
            </a:r>
            <a:endParaRPr lang="en-US" sz="10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4311551"/>
            <a:ext cx="5283266" cy="884337"/>
          </a:xfrm>
          <a:prstGeom prst="rect">
            <a:avLst/>
          </a:prstGeom>
        </p:spPr>
      </p:pic>
      <p:sp>
        <p:nvSpPr>
          <p:cNvPr id="13" name="Text 8"/>
          <p:cNvSpPr/>
          <p:nvPr/>
        </p:nvSpPr>
        <p:spPr>
          <a:xfrm>
            <a:off x="839072" y="4330601"/>
            <a:ext cx="5086620"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Temporal Trends in Disease Burden</a:t>
            </a:r>
            <a:endParaRPr lang="en-US" sz="1350" dirty="0"/>
          </a:p>
        </p:txBody>
      </p:sp>
      <p:sp>
        <p:nvSpPr>
          <p:cNvPr id="14" name="Text 9"/>
          <p:cNvSpPr/>
          <p:nvPr/>
        </p:nvSpPr>
        <p:spPr>
          <a:xfrm>
            <a:off x="839072" y="4674989"/>
            <a:ext cx="5086620" cy="501848"/>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Year-over-year line charts track whether reported cases are declining in response to vaccination programs, providing evidence of vaccine efficacy at the population level.</a:t>
            </a:r>
            <a:endParaRPr lang="en-US" sz="10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2425" y="5393234"/>
            <a:ext cx="5283266" cy="884337"/>
          </a:xfrm>
          <a:prstGeom prst="rect">
            <a:avLst/>
          </a:prstGeom>
        </p:spPr>
      </p:pic>
      <p:sp>
        <p:nvSpPr>
          <p:cNvPr id="16" name="Text 10"/>
          <p:cNvSpPr/>
          <p:nvPr/>
        </p:nvSpPr>
        <p:spPr>
          <a:xfrm>
            <a:off x="839072" y="5412284"/>
            <a:ext cx="5086620"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Missing Data Consideration</a:t>
            </a:r>
            <a:endParaRPr lang="en-US" sz="1350" dirty="0"/>
          </a:p>
        </p:txBody>
      </p:sp>
      <p:sp>
        <p:nvSpPr>
          <p:cNvPr id="17" name="Text 11"/>
          <p:cNvSpPr/>
          <p:nvPr/>
        </p:nvSpPr>
        <p:spPr>
          <a:xfrm>
            <a:off x="839072" y="5756672"/>
            <a:ext cx="5086620" cy="501848"/>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With 23,362 missing incidence rates and 19,400 missing case counts, analysis was conducted on available data only. Missingness was treated as indicative of reporting gaps rather than zero burden.</a:t>
            </a:r>
            <a:endParaRPr lang="en-US" sz="1050" dirty="0"/>
          </a:p>
        </p:txBody>
      </p:sp>
      <p:sp>
        <p:nvSpPr>
          <p:cNvPr id="18" name="Text 12"/>
          <p:cNvSpPr/>
          <p:nvPr/>
        </p:nvSpPr>
        <p:spPr>
          <a:xfrm>
            <a:off x="6272353" y="1473498"/>
            <a:ext cx="5264217"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F2F5FA"/>
                </a:solidFill>
                <a:latin typeface="Geist Bold" pitchFamily="34" charset="0"/>
                <a:ea typeface="Geist Bold" pitchFamily="34" charset="-122"/>
                <a:cs typeface="Geist Bold" pitchFamily="34" charset="-120"/>
              </a:rPr>
              <a:t>Vaccine Introduction Patterns</a:t>
            </a:r>
            <a:endParaRPr lang="en-US" sz="1350" dirty="0"/>
          </a:p>
        </p:txBody>
      </p:sp>
      <p:sp>
        <p:nvSpPr>
          <p:cNvPr id="19" name="Text 13"/>
          <p:cNvSpPr/>
          <p:nvPr/>
        </p:nvSpPr>
        <p:spPr>
          <a:xfrm>
            <a:off x="6272353" y="1817886"/>
            <a:ext cx="5264217" cy="334566"/>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The </a:t>
            </a:r>
            <a:pPr algn="l" indent="0" marL="0">
              <a:lnSpc>
                <a:spcPct val="100000"/>
              </a:lnSpc>
              <a:buNone/>
            </a:pPr>
            <a:r>
              <a:rPr lang="en-US" sz="1050" b="1" dirty="0">
                <a:solidFill>
                  <a:srgbClr val="EBEDF0"/>
                </a:solidFill>
                <a:latin typeface="Geist Bold" pitchFamily="34" charset="0"/>
                <a:ea typeface="Geist Bold" pitchFamily="34" charset="-122"/>
                <a:cs typeface="Geist Bold" pitchFamily="34" charset="-120"/>
              </a:rPr>
              <a:t>Vaccine Introduction Dataset</a:t>
            </a:r>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 (138,321 records) maps how and when vaccines entered national programs across WHO regions.</a:t>
            </a:r>
            <a:endParaRPr lang="en-US" sz="105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72353" y="2284909"/>
            <a:ext cx="2573273" cy="1956891"/>
          </a:xfrm>
          <a:prstGeom prst="rect">
            <a:avLst/>
          </a:prstGeom>
        </p:spPr>
      </p:pic>
      <p:sp>
        <p:nvSpPr>
          <p:cNvPr id="21" name="Text 14"/>
          <p:cNvSpPr/>
          <p:nvPr/>
        </p:nvSpPr>
        <p:spPr>
          <a:xfrm>
            <a:off x="7475301" y="2385318"/>
            <a:ext cx="167378" cy="217686"/>
          </a:xfrm>
          <a:prstGeom prst="rect">
            <a:avLst/>
          </a:prstGeom>
          <a:noFill/>
          <a:ln/>
        </p:spPr>
        <p:txBody>
          <a:bodyPr wrap="none" lIns="0" tIns="0" rIns="0" bIns="0" rtlCol="0" anchor="ctr"/>
          <a:lstStyle/>
          <a:p>
            <a:pPr algn="ctr" indent="0" marL="0">
              <a:lnSpc>
                <a:spcPct val="100000"/>
              </a:lnSpc>
              <a:buNone/>
            </a:pPr>
            <a:r>
              <a:rPr lang="en-US" sz="1300" b="1" spc="-22" kern="0" dirty="0">
                <a:solidFill>
                  <a:srgbClr val="000000"/>
                </a:solidFill>
                <a:latin typeface="Geist Bold" pitchFamily="34" charset="0"/>
                <a:ea typeface="Geist Bold" pitchFamily="34" charset="-122"/>
                <a:cs typeface="Geist Bold" pitchFamily="34" charset="-120"/>
              </a:rPr>
              <a:t>1</a:t>
            </a:r>
            <a:endParaRPr lang="en-US" sz="1300" dirty="0"/>
          </a:p>
        </p:txBody>
      </p:sp>
      <p:sp>
        <p:nvSpPr>
          <p:cNvPr id="22" name="Text 15"/>
          <p:cNvSpPr/>
          <p:nvPr/>
        </p:nvSpPr>
        <p:spPr>
          <a:xfrm>
            <a:off x="6430901" y="2843014"/>
            <a:ext cx="2256178"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Regional Rollout Timing</a:t>
            </a:r>
            <a:endParaRPr lang="en-US" sz="1350" dirty="0"/>
          </a:p>
        </p:txBody>
      </p:sp>
      <p:sp>
        <p:nvSpPr>
          <p:cNvPr id="23" name="Text 16"/>
          <p:cNvSpPr/>
          <p:nvPr/>
        </p:nvSpPr>
        <p:spPr>
          <a:xfrm>
            <a:off x="6430901" y="3187402"/>
            <a:ext cx="2256178" cy="669131"/>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Analysis of introduction years by WHO region reveals which regions led or lagged in adopting new vaccines into national schedules.</a:t>
            </a:r>
            <a:endParaRPr lang="en-US" sz="105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63297" y="2284909"/>
            <a:ext cx="2573273" cy="1956891"/>
          </a:xfrm>
          <a:prstGeom prst="rect">
            <a:avLst/>
          </a:prstGeom>
        </p:spPr>
      </p:pic>
      <p:sp>
        <p:nvSpPr>
          <p:cNvPr id="25" name="Text 17"/>
          <p:cNvSpPr/>
          <p:nvPr/>
        </p:nvSpPr>
        <p:spPr>
          <a:xfrm>
            <a:off x="10166244" y="2385318"/>
            <a:ext cx="167378" cy="217686"/>
          </a:xfrm>
          <a:prstGeom prst="rect">
            <a:avLst/>
          </a:prstGeom>
          <a:noFill/>
          <a:ln/>
        </p:spPr>
        <p:txBody>
          <a:bodyPr wrap="none" lIns="0" tIns="0" rIns="0" bIns="0" rtlCol="0" anchor="ctr"/>
          <a:lstStyle/>
          <a:p>
            <a:pPr algn="ctr" indent="0" marL="0">
              <a:lnSpc>
                <a:spcPct val="100000"/>
              </a:lnSpc>
              <a:buNone/>
            </a:pPr>
            <a:r>
              <a:rPr lang="en-US" sz="1300" b="1" spc="-22" kern="0" dirty="0">
                <a:solidFill>
                  <a:srgbClr val="000000"/>
                </a:solidFill>
                <a:latin typeface="Geist Bold" pitchFamily="34" charset="0"/>
                <a:ea typeface="Geist Bold" pitchFamily="34" charset="-122"/>
                <a:cs typeface="Geist Bold" pitchFamily="34" charset="-120"/>
              </a:rPr>
              <a:t>2</a:t>
            </a:r>
            <a:endParaRPr lang="en-US" sz="1300" dirty="0"/>
          </a:p>
        </p:txBody>
      </p:sp>
      <p:sp>
        <p:nvSpPr>
          <p:cNvPr id="26" name="Text 18"/>
          <p:cNvSpPr/>
          <p:nvPr/>
        </p:nvSpPr>
        <p:spPr>
          <a:xfrm>
            <a:off x="9121844" y="2843014"/>
            <a:ext cx="2256178" cy="453430"/>
          </a:xfrm>
          <a:prstGeom prst="rect">
            <a:avLst/>
          </a:prstGeom>
          <a:noFill/>
          <a:ln/>
        </p:spPr>
        <p:txBody>
          <a:bodyPr wrap="square" lIns="0" tIns="0" rIns="0" bIns="0" rtlCol="0" anchor="t">
            <a:normAutofit/>
          </a:bodyPr>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Vaccine Description Frequency</a:t>
            </a:r>
            <a:endParaRPr lang="en-US" sz="1350" dirty="0"/>
          </a:p>
        </p:txBody>
      </p:sp>
      <p:sp>
        <p:nvSpPr>
          <p:cNvPr id="27" name="Text 19"/>
          <p:cNvSpPr/>
          <p:nvPr/>
        </p:nvSpPr>
        <p:spPr>
          <a:xfrm>
            <a:off x="9121844" y="3414117"/>
            <a:ext cx="2256178" cy="669131"/>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Bar chart analysis of vaccine descriptions identifies which vaccine types have the broadest multi-country adoption.</a:t>
            </a:r>
            <a:endParaRPr lang="en-US" sz="1050" dirty="0"/>
          </a:p>
        </p:txBody>
      </p:sp>
      <p:pic>
        <p:nvPicPr>
          <p:cNvPr id="2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72353" y="4359473"/>
            <a:ext cx="2573273" cy="1897459"/>
          </a:xfrm>
          <a:prstGeom prst="rect">
            <a:avLst/>
          </a:prstGeom>
        </p:spPr>
      </p:pic>
      <p:sp>
        <p:nvSpPr>
          <p:cNvPr id="29" name="Text 20"/>
          <p:cNvSpPr/>
          <p:nvPr/>
        </p:nvSpPr>
        <p:spPr>
          <a:xfrm>
            <a:off x="7475301" y="4459883"/>
            <a:ext cx="167378" cy="217686"/>
          </a:xfrm>
          <a:prstGeom prst="rect">
            <a:avLst/>
          </a:prstGeom>
          <a:noFill/>
          <a:ln/>
        </p:spPr>
        <p:txBody>
          <a:bodyPr wrap="none" lIns="0" tIns="0" rIns="0" bIns="0" rtlCol="0" anchor="ctr"/>
          <a:lstStyle/>
          <a:p>
            <a:pPr algn="ctr" indent="0" marL="0">
              <a:lnSpc>
                <a:spcPct val="100000"/>
              </a:lnSpc>
              <a:buNone/>
            </a:pPr>
            <a:r>
              <a:rPr lang="en-US" sz="1300" b="1" spc="-22" kern="0" dirty="0">
                <a:solidFill>
                  <a:srgbClr val="000000"/>
                </a:solidFill>
                <a:latin typeface="Geist Bold" pitchFamily="34" charset="0"/>
                <a:ea typeface="Geist Bold" pitchFamily="34" charset="-122"/>
                <a:cs typeface="Geist Bold" pitchFamily="34" charset="-120"/>
              </a:rPr>
              <a:t>3</a:t>
            </a:r>
            <a:endParaRPr lang="en-US" sz="1300" dirty="0"/>
          </a:p>
        </p:txBody>
      </p:sp>
      <p:sp>
        <p:nvSpPr>
          <p:cNvPr id="30" name="Text 21"/>
          <p:cNvSpPr/>
          <p:nvPr/>
        </p:nvSpPr>
        <p:spPr>
          <a:xfrm>
            <a:off x="6430901" y="4917579"/>
            <a:ext cx="2256178"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Country-Level Introduction</a:t>
            </a:r>
            <a:endParaRPr lang="en-US" sz="1350" dirty="0"/>
          </a:p>
        </p:txBody>
      </p:sp>
      <p:sp>
        <p:nvSpPr>
          <p:cNvPr id="31" name="Text 22"/>
          <p:cNvSpPr/>
          <p:nvPr/>
        </p:nvSpPr>
        <p:spPr>
          <a:xfrm>
            <a:off x="6430901" y="5261967"/>
            <a:ext cx="2256178" cy="836414"/>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Country-level breakdowns reveal which nations have the most comprehensive vaccine introduction records, highlighting programmatic strength.</a:t>
            </a:r>
            <a:endParaRPr lang="en-US" sz="1050" dirty="0"/>
          </a:p>
        </p:txBody>
      </p:sp>
      <p:pic>
        <p:nvPicPr>
          <p:cNvPr id="3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63297" y="4359473"/>
            <a:ext cx="2573273" cy="1897459"/>
          </a:xfrm>
          <a:prstGeom prst="rect">
            <a:avLst/>
          </a:prstGeom>
        </p:spPr>
      </p:pic>
      <p:sp>
        <p:nvSpPr>
          <p:cNvPr id="33" name="Text 23"/>
          <p:cNvSpPr/>
          <p:nvPr/>
        </p:nvSpPr>
        <p:spPr>
          <a:xfrm>
            <a:off x="10166244" y="4459883"/>
            <a:ext cx="167378" cy="217686"/>
          </a:xfrm>
          <a:prstGeom prst="rect">
            <a:avLst/>
          </a:prstGeom>
          <a:noFill/>
          <a:ln/>
        </p:spPr>
        <p:txBody>
          <a:bodyPr wrap="none" lIns="0" tIns="0" rIns="0" bIns="0" rtlCol="0" anchor="ctr"/>
          <a:lstStyle/>
          <a:p>
            <a:pPr algn="ctr" indent="0" marL="0">
              <a:lnSpc>
                <a:spcPct val="100000"/>
              </a:lnSpc>
              <a:buNone/>
            </a:pPr>
            <a:r>
              <a:rPr lang="en-US" sz="1300" b="1" spc="-22" kern="0" dirty="0">
                <a:solidFill>
                  <a:srgbClr val="000000"/>
                </a:solidFill>
                <a:latin typeface="Geist Bold" pitchFamily="34" charset="0"/>
                <a:ea typeface="Geist Bold" pitchFamily="34" charset="-122"/>
                <a:cs typeface="Geist Bold" pitchFamily="34" charset="-120"/>
              </a:rPr>
              <a:t>4</a:t>
            </a:r>
            <a:endParaRPr lang="en-US" sz="1300" dirty="0"/>
          </a:p>
        </p:txBody>
      </p:sp>
      <p:sp>
        <p:nvSpPr>
          <p:cNvPr id="34" name="Text 24"/>
          <p:cNvSpPr/>
          <p:nvPr/>
        </p:nvSpPr>
        <p:spPr>
          <a:xfrm>
            <a:off x="9121844" y="4917579"/>
            <a:ext cx="2256178" cy="226715"/>
          </a:xfrm>
          <a:prstGeom prst="rect">
            <a:avLst/>
          </a:prstGeom>
          <a:noFill/>
          <a:ln/>
        </p:spPr>
        <p:txBody>
          <a:bodyPr wrap="none" lIns="0" tIns="0" rIns="0" bIns="0" rtlCol="0" anchor="t"/>
          <a:lstStyle/>
          <a:p>
            <a:pPr algn="l" indent="0" marL="0">
              <a:lnSpc>
                <a:spcPct val="108000"/>
              </a:lnSpc>
              <a:buNone/>
            </a:pPr>
            <a:r>
              <a:rPr lang="en-US" sz="1350" b="1" spc="-27" kern="0" dirty="0">
                <a:solidFill>
                  <a:srgbClr val="EBEDF0"/>
                </a:solidFill>
                <a:latin typeface="Geist Bold" pitchFamily="34" charset="0"/>
                <a:ea typeface="Geist Bold" pitchFamily="34" charset="-122"/>
                <a:cs typeface="Geist Bold" pitchFamily="34" charset="-120"/>
              </a:rPr>
              <a:t>Year Distribution</a:t>
            </a:r>
            <a:endParaRPr lang="en-US" sz="1350" dirty="0"/>
          </a:p>
        </p:txBody>
      </p:sp>
      <p:sp>
        <p:nvSpPr>
          <p:cNvPr id="35" name="Text 25"/>
          <p:cNvSpPr/>
          <p:nvPr/>
        </p:nvSpPr>
        <p:spPr>
          <a:xfrm>
            <a:off x="9121844" y="5261967"/>
            <a:ext cx="2256178" cy="836414"/>
          </a:xfrm>
          <a:prstGeom prst="rect">
            <a:avLst/>
          </a:prstGeom>
          <a:noFill/>
          <a:ln/>
        </p:spPr>
        <p:txBody>
          <a:bodyPr wrap="square" lIns="0" tIns="0" rIns="0" bIns="0" rtlCol="0" anchor="t">
            <a:normAutofit/>
          </a:bodyPr>
          <a:lstStyle/>
          <a:p>
            <a:pPr algn="l" indent="0" marL="0">
              <a:lnSpc>
                <a:spcPct val="100000"/>
              </a:lnSpc>
              <a:buNone/>
            </a:pPr>
            <a:r>
              <a:rPr lang="en-US" sz="1050" dirty="0">
                <a:solidFill>
                  <a:srgbClr val="EBEDF0"/>
                </a:solidFill>
                <a:latin typeface="Geist" pitchFamily="34" charset="0"/>
                <a:ea typeface="Geist" pitchFamily="34" charset="-122"/>
                <a:cs typeface="Geist" pitchFamily="34" charset="-120"/>
              </a:rPr>
              <a:t>Distribution of introduction years across the dataset shows acceleration or deceleration in new vaccine adoptions globally over time.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514152"/>
            <a:ext cx="842743" cy="200223"/>
          </a:xfrm>
          <a:prstGeom prst="roundRect">
            <a:avLst>
              <a:gd name="adj" fmla="val 22117"/>
            </a:avLst>
          </a:prstGeom>
          <a:solidFill>
            <a:srgbClr val="00194D"/>
          </a:solidFill>
          <a:ln/>
        </p:spPr>
      </p:sp>
      <p:sp>
        <p:nvSpPr>
          <p:cNvPr id="3" name="Text 1"/>
          <p:cNvSpPr/>
          <p:nvPr/>
        </p:nvSpPr>
        <p:spPr>
          <a:xfrm>
            <a:off x="740550" y="553641"/>
            <a:ext cx="1294177" cy="121245"/>
          </a:xfrm>
          <a:prstGeom prst="rect">
            <a:avLst/>
          </a:prstGeom>
          <a:noFill/>
          <a:ln/>
        </p:spPr>
        <p:txBody>
          <a:bodyPr wrap="none" lIns="0" tIns="0" rIns="0" bIns="0" rtlCol="0" anchor="t"/>
          <a:lstStyle/>
          <a:p>
            <a:pPr algn="l" indent="0" marL="0">
              <a:lnSpc>
                <a:spcPct val="96000"/>
              </a:lnSpc>
              <a:buNone/>
            </a:pPr>
            <a:r>
              <a:rPr lang="en-US" sz="800" dirty="0">
                <a:solidFill>
                  <a:srgbClr val="EBEDF0"/>
                </a:solidFill>
                <a:latin typeface="Geist" pitchFamily="34" charset="0"/>
                <a:ea typeface="Geist" pitchFamily="34" charset="-122"/>
                <a:cs typeface="Geist" pitchFamily="34" charset="-120"/>
              </a:rPr>
              <a:t>CONCLUSION</a:t>
            </a:r>
            <a:endParaRPr lang="en-US" sz="800" dirty="0"/>
          </a:p>
        </p:txBody>
      </p:sp>
      <p:sp>
        <p:nvSpPr>
          <p:cNvPr id="4" name="Text 2"/>
          <p:cNvSpPr/>
          <p:nvPr/>
        </p:nvSpPr>
        <p:spPr>
          <a:xfrm>
            <a:off x="661475" y="756345"/>
            <a:ext cx="10868745" cy="428327"/>
          </a:xfrm>
          <a:prstGeom prst="rect">
            <a:avLst/>
          </a:prstGeom>
          <a:noFill/>
          <a:ln/>
        </p:spPr>
        <p:txBody>
          <a:bodyPr wrap="none" lIns="0" tIns="0" rIns="0" bIns="0" rtlCol="0" anchor="t"/>
          <a:lstStyle/>
          <a:p>
            <a:pPr algn="l" indent="0" marL="0">
              <a:lnSpc>
                <a:spcPct val="108000"/>
              </a:lnSpc>
              <a:buNone/>
            </a:pPr>
            <a:r>
              <a:rPr lang="en-US" sz="2550" b="1" spc="-52" kern="0" dirty="0">
                <a:solidFill>
                  <a:srgbClr val="F2F5FA"/>
                </a:solidFill>
                <a:latin typeface="Geist Bold" pitchFamily="34" charset="0"/>
                <a:ea typeface="Geist Bold" pitchFamily="34" charset="-122"/>
                <a:cs typeface="Geist Bold" pitchFamily="34" charset="-120"/>
              </a:rPr>
              <a:t>Key Findings, Applications &amp; Conclusion</a:t>
            </a:r>
            <a:endParaRPr lang="en-US" sz="2550" dirty="0"/>
          </a:p>
        </p:txBody>
      </p:sp>
      <p:sp>
        <p:nvSpPr>
          <p:cNvPr id="5" name="Shape 3"/>
          <p:cNvSpPr/>
          <p:nvPr/>
        </p:nvSpPr>
        <p:spPr>
          <a:xfrm>
            <a:off x="566624" y="1342132"/>
            <a:ext cx="5463344" cy="3469084"/>
          </a:xfrm>
          <a:prstGeom prst="roundRect">
            <a:avLst>
              <a:gd name="adj" fmla="val 2735"/>
            </a:avLst>
          </a:prstGeom>
          <a:solidFill>
            <a:srgbClr val="1F2A5D">
              <a:alpha val="95000"/>
            </a:srgbClr>
          </a:solidFill>
          <a:ln/>
        </p:spPr>
      </p:sp>
      <p:sp>
        <p:nvSpPr>
          <p:cNvPr id="6" name="Text 4"/>
          <p:cNvSpPr/>
          <p:nvPr/>
        </p:nvSpPr>
        <p:spPr>
          <a:xfrm>
            <a:off x="698383" y="1447105"/>
            <a:ext cx="5199825"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F2F5FA"/>
                </a:solidFill>
                <a:latin typeface="Geist Bold" pitchFamily="34" charset="0"/>
                <a:ea typeface="Geist Bold" pitchFamily="34" charset="-122"/>
                <a:cs typeface="Geist Bold" pitchFamily="34" charset="-120"/>
              </a:rPr>
              <a:t>Summary of Findings</a:t>
            </a:r>
            <a:endParaRPr lang="en-US" sz="1250" dirty="0"/>
          </a:p>
        </p:txBody>
      </p:sp>
      <p:sp>
        <p:nvSpPr>
          <p:cNvPr id="7" name="Shape 5"/>
          <p:cNvSpPr/>
          <p:nvPr/>
        </p:nvSpPr>
        <p:spPr>
          <a:xfrm>
            <a:off x="698383" y="1831975"/>
            <a:ext cx="65880" cy="65881"/>
          </a:xfrm>
          <a:prstGeom prst="ellipse">
            <a:avLst/>
          </a:prstGeom>
          <a:solidFill>
            <a:srgbClr val="487CFF"/>
          </a:solidFill>
          <a:ln/>
        </p:spPr>
      </p:sp>
      <p:sp>
        <p:nvSpPr>
          <p:cNvPr id="8" name="Text 6"/>
          <p:cNvSpPr/>
          <p:nvPr/>
        </p:nvSpPr>
        <p:spPr>
          <a:xfrm>
            <a:off x="869234" y="1779290"/>
            <a:ext cx="5028975" cy="307777"/>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Vaccination coverage varies significantly across countries, WHO regions, and antigen types — with persistent gaps in low-income settings</a:t>
            </a:r>
            <a:endParaRPr lang="en-US" sz="1000" dirty="0"/>
          </a:p>
        </p:txBody>
      </p:sp>
      <p:sp>
        <p:nvSpPr>
          <p:cNvPr id="9" name="Shape 7"/>
          <p:cNvSpPr/>
          <p:nvPr/>
        </p:nvSpPr>
        <p:spPr>
          <a:xfrm>
            <a:off x="698383" y="2349798"/>
            <a:ext cx="65880" cy="65881"/>
          </a:xfrm>
          <a:prstGeom prst="ellipse">
            <a:avLst/>
          </a:prstGeom>
          <a:solidFill>
            <a:srgbClr val="487CFF"/>
          </a:solidFill>
          <a:ln/>
        </p:spPr>
      </p:sp>
      <p:sp>
        <p:nvSpPr>
          <p:cNvPr id="10" name="Text 8"/>
          <p:cNvSpPr/>
          <p:nvPr/>
        </p:nvSpPr>
        <p:spPr>
          <a:xfrm>
            <a:off x="869234" y="2297113"/>
            <a:ext cx="5028975" cy="307777"/>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Disease incidence and reported case counts identify high-burden diseases that remain inadequately controlled despite existing vaccination programs</a:t>
            </a:r>
            <a:endParaRPr lang="en-US" sz="1000" dirty="0"/>
          </a:p>
        </p:txBody>
      </p:sp>
      <p:sp>
        <p:nvSpPr>
          <p:cNvPr id="11" name="Shape 9"/>
          <p:cNvSpPr/>
          <p:nvPr/>
        </p:nvSpPr>
        <p:spPr>
          <a:xfrm>
            <a:off x="698383" y="2867620"/>
            <a:ext cx="65880" cy="65881"/>
          </a:xfrm>
          <a:prstGeom prst="ellipse">
            <a:avLst/>
          </a:prstGeom>
          <a:solidFill>
            <a:srgbClr val="487CFF"/>
          </a:solidFill>
          <a:ln/>
        </p:spPr>
      </p:sp>
      <p:sp>
        <p:nvSpPr>
          <p:cNvPr id="12" name="Text 10"/>
          <p:cNvSpPr/>
          <p:nvPr/>
        </p:nvSpPr>
        <p:spPr>
          <a:xfrm>
            <a:off x="869234" y="2814935"/>
            <a:ext cx="5028975" cy="307777"/>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Vaccine introduction patterns differ substantially by WHO region, with some regions showing faster adoption of new vaccines than others</a:t>
            </a:r>
            <a:endParaRPr lang="en-US" sz="1000" dirty="0"/>
          </a:p>
        </p:txBody>
      </p:sp>
      <p:sp>
        <p:nvSpPr>
          <p:cNvPr id="13" name="Shape 11"/>
          <p:cNvSpPr/>
          <p:nvPr/>
        </p:nvSpPr>
        <p:spPr>
          <a:xfrm>
            <a:off x="698383" y="3385443"/>
            <a:ext cx="65880" cy="65881"/>
          </a:xfrm>
          <a:prstGeom prst="ellipse">
            <a:avLst/>
          </a:prstGeom>
          <a:solidFill>
            <a:srgbClr val="487CFF"/>
          </a:solidFill>
          <a:ln/>
        </p:spPr>
      </p:sp>
      <p:sp>
        <p:nvSpPr>
          <p:cNvPr id="14" name="Text 12"/>
          <p:cNvSpPr/>
          <p:nvPr/>
        </p:nvSpPr>
        <p:spPr>
          <a:xfrm>
            <a:off x="869234" y="3332758"/>
            <a:ext cx="5028975" cy="307777"/>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Vaccination schedule complexity has evolved over time, with increasing rounds and broader target population definitions</a:t>
            </a:r>
            <a:endParaRPr lang="en-US" sz="1000" dirty="0"/>
          </a:p>
        </p:txBody>
      </p:sp>
      <p:sp>
        <p:nvSpPr>
          <p:cNvPr id="15" name="Shape 13"/>
          <p:cNvSpPr/>
          <p:nvPr/>
        </p:nvSpPr>
        <p:spPr>
          <a:xfrm>
            <a:off x="698383" y="3903266"/>
            <a:ext cx="65880" cy="65881"/>
          </a:xfrm>
          <a:prstGeom prst="ellipse">
            <a:avLst/>
          </a:prstGeom>
          <a:solidFill>
            <a:srgbClr val="487CFF"/>
          </a:solidFill>
          <a:ln/>
        </p:spPr>
      </p:sp>
      <p:sp>
        <p:nvSpPr>
          <p:cNvPr id="16" name="Text 14"/>
          <p:cNvSpPr/>
          <p:nvPr/>
        </p:nvSpPr>
        <p:spPr>
          <a:xfrm>
            <a:off x="869234" y="3850580"/>
            <a:ext cx="5028975" cy="307777"/>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Missing data, particularly in TARGET_NUMBER and DOSES, reflects systemic reporting challenges that must be addressed to improve global monitoring</a:t>
            </a:r>
            <a:endParaRPr lang="en-US" sz="1000" dirty="0"/>
          </a:p>
        </p:txBody>
      </p:sp>
      <p:sp>
        <p:nvSpPr>
          <p:cNvPr id="17" name="Text 15"/>
          <p:cNvSpPr/>
          <p:nvPr/>
        </p:nvSpPr>
        <p:spPr>
          <a:xfrm>
            <a:off x="6262928" y="1447105"/>
            <a:ext cx="5273642"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F2F5FA"/>
                </a:solidFill>
                <a:latin typeface="Geist Bold" pitchFamily="34" charset="0"/>
                <a:ea typeface="Geist Bold" pitchFamily="34" charset="-122"/>
                <a:cs typeface="Geist Bold" pitchFamily="34" charset="-120"/>
              </a:rPr>
              <a:t>Public Health Applications</a:t>
            </a:r>
            <a:endParaRPr lang="en-US" sz="125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2928" y="1779290"/>
            <a:ext cx="329398" cy="329406"/>
          </a:xfrm>
          <a:prstGeom prst="rect">
            <a:avLst/>
          </a:prstGeom>
        </p:spPr>
      </p:pic>
      <p:sp>
        <p:nvSpPr>
          <p:cNvPr id="19" name="Text 16"/>
          <p:cNvSpPr/>
          <p:nvPr/>
        </p:nvSpPr>
        <p:spPr>
          <a:xfrm>
            <a:off x="6723589" y="1779290"/>
            <a:ext cx="2110528"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Program Monitoring</a:t>
            </a:r>
            <a:endParaRPr lang="en-US" sz="1250" dirty="0"/>
          </a:p>
        </p:txBody>
      </p:sp>
      <p:sp>
        <p:nvSpPr>
          <p:cNvPr id="20" name="Text 17"/>
          <p:cNvSpPr/>
          <p:nvPr/>
        </p:nvSpPr>
        <p:spPr>
          <a:xfrm>
            <a:off x="6723589" y="2098377"/>
            <a:ext cx="2110528" cy="615553"/>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Coverage trends enable health authorities to assess whether national immunization programs are achieving targets.</a:t>
            </a:r>
            <a:endParaRPr lang="en-US" sz="100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65380" y="1779290"/>
            <a:ext cx="329398" cy="329406"/>
          </a:xfrm>
          <a:prstGeom prst="rect">
            <a:avLst/>
          </a:prstGeom>
        </p:spPr>
      </p:pic>
      <p:sp>
        <p:nvSpPr>
          <p:cNvPr id="22" name="Text 18"/>
          <p:cNvSpPr/>
          <p:nvPr/>
        </p:nvSpPr>
        <p:spPr>
          <a:xfrm>
            <a:off x="9426042" y="1779290"/>
            <a:ext cx="2110528"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Resource Allocation</a:t>
            </a:r>
            <a:endParaRPr lang="en-US" sz="1250" dirty="0"/>
          </a:p>
        </p:txBody>
      </p:sp>
      <p:sp>
        <p:nvSpPr>
          <p:cNvPr id="23" name="Text 19"/>
          <p:cNvSpPr/>
          <p:nvPr/>
        </p:nvSpPr>
        <p:spPr>
          <a:xfrm>
            <a:off x="9426042" y="2098377"/>
            <a:ext cx="2110528" cy="615553"/>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Identifying underperforming countries and diseases guides where financial and logistical support is most needed.</a:t>
            </a:r>
            <a:endParaRPr lang="en-US" sz="10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28" y="2923977"/>
            <a:ext cx="329398" cy="329406"/>
          </a:xfrm>
          <a:prstGeom prst="rect">
            <a:avLst/>
          </a:prstGeom>
        </p:spPr>
      </p:pic>
      <p:sp>
        <p:nvSpPr>
          <p:cNvPr id="25" name="Text 20"/>
          <p:cNvSpPr/>
          <p:nvPr/>
        </p:nvSpPr>
        <p:spPr>
          <a:xfrm>
            <a:off x="6723589" y="2923977"/>
            <a:ext cx="2110528"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Disease Prevention</a:t>
            </a:r>
            <a:endParaRPr lang="en-US" sz="1250" dirty="0"/>
          </a:p>
        </p:txBody>
      </p:sp>
      <p:sp>
        <p:nvSpPr>
          <p:cNvPr id="26" name="Text 21"/>
          <p:cNvSpPr/>
          <p:nvPr/>
        </p:nvSpPr>
        <p:spPr>
          <a:xfrm>
            <a:off x="6723589" y="3243064"/>
            <a:ext cx="2110528" cy="615553"/>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Incidence analysis identifies diseases where vaccination scale-up could yield the greatest reduction in burden.</a:t>
            </a:r>
            <a:endParaRPr lang="en-US" sz="1000" dirty="0"/>
          </a:p>
        </p:txBody>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380" y="2923977"/>
            <a:ext cx="329398" cy="329406"/>
          </a:xfrm>
          <a:prstGeom prst="rect">
            <a:avLst/>
          </a:prstGeom>
        </p:spPr>
      </p:pic>
      <p:sp>
        <p:nvSpPr>
          <p:cNvPr id="28" name="Text 22"/>
          <p:cNvSpPr/>
          <p:nvPr/>
        </p:nvSpPr>
        <p:spPr>
          <a:xfrm>
            <a:off x="9426042" y="2923977"/>
            <a:ext cx="2110528"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Interactive Dashboards</a:t>
            </a:r>
            <a:endParaRPr lang="en-US" sz="1250" dirty="0"/>
          </a:p>
        </p:txBody>
      </p:sp>
      <p:sp>
        <p:nvSpPr>
          <p:cNvPr id="29" name="Text 23"/>
          <p:cNvSpPr/>
          <p:nvPr/>
        </p:nvSpPr>
        <p:spPr>
          <a:xfrm>
            <a:off x="9426042" y="3243064"/>
            <a:ext cx="2110528" cy="615553"/>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Tableau dashboards make findings accessible to policymakers, enabling real-time exploration of vaccination data.</a:t>
            </a:r>
            <a:endParaRPr lang="en-US" sz="1000" dirty="0"/>
          </a:p>
        </p:txBody>
      </p:sp>
      <p:sp>
        <p:nvSpPr>
          <p:cNvPr id="30" name="Shape 24"/>
          <p:cNvSpPr/>
          <p:nvPr/>
        </p:nvSpPr>
        <p:spPr>
          <a:xfrm>
            <a:off x="6262928" y="3976688"/>
            <a:ext cx="5273642" cy="716459"/>
          </a:xfrm>
          <a:prstGeom prst="roundRect">
            <a:avLst>
              <a:gd name="adj" fmla="val 7726"/>
            </a:avLst>
          </a:prstGeom>
          <a:solidFill>
            <a:srgbClr val="002A80"/>
          </a:solidFill>
          <a:ln/>
        </p:spPr>
      </p:sp>
      <p:pic>
        <p:nvPicPr>
          <p:cNvPr id="31" name="Image 4" descr="preencoded.png">    </p:cNvPr>
          <p:cNvPicPr>
            <a:picLocks noChangeAspect="1"/>
          </p:cNvPicPr>
          <p:nvPr/>
        </p:nvPicPr>
        <p:blipFill>
          <a:blip r:embed="rId9"/>
          <a:stretch>
            <a:fillRect/>
          </a:stretch>
        </p:blipFill>
        <p:spPr>
          <a:xfrm>
            <a:off x="6394687" y="4119959"/>
            <a:ext cx="164699" cy="131763"/>
          </a:xfrm>
          <a:prstGeom prst="rect">
            <a:avLst/>
          </a:prstGeom>
        </p:spPr>
      </p:pic>
      <p:sp>
        <p:nvSpPr>
          <p:cNvPr id="32" name="Text 25"/>
          <p:cNvSpPr/>
          <p:nvPr/>
        </p:nvSpPr>
        <p:spPr>
          <a:xfrm>
            <a:off x="6691145" y="4104084"/>
            <a:ext cx="4713666" cy="461665"/>
          </a:xfrm>
          <a:prstGeom prst="rect">
            <a:avLst/>
          </a:prstGeom>
          <a:noFill/>
          <a:ln/>
        </p:spPr>
        <p:txBody>
          <a:bodyPr wrap="square" lIns="0" tIns="0" rIns="0" bIns="0" rtlCol="0" anchor="t">
            <a:normAutofit/>
          </a:bodyPr>
          <a:lstStyle/>
          <a:p>
            <a:pPr algn="l" indent="0" marL="0">
              <a:lnSpc>
                <a:spcPct val="97000"/>
              </a:lnSpc>
              <a:buNone/>
            </a:pPr>
            <a:r>
              <a:rPr lang="en-US" sz="1000" dirty="0">
                <a:solidFill>
                  <a:srgbClr val="FFFFFF"/>
                </a:solidFill>
                <a:latin typeface="Geist" pitchFamily="34" charset="0"/>
                <a:ea typeface="Geist" pitchFamily="34" charset="-122"/>
                <a:cs typeface="Geist" pitchFamily="34" charset="-120"/>
              </a:rPr>
              <a:t>This project demonstrates how large-scale vaccination datasets — totaling over 716,000 records — can be systematically analyzed to generate evidence that supports smarter, more equitable public health decision-making.</a:t>
            </a:r>
            <a:endParaRPr lang="en-US" sz="1000" dirty="0"/>
          </a:p>
        </p:txBody>
      </p:sp>
      <p:sp>
        <p:nvSpPr>
          <p:cNvPr id="33" name="Shape 26"/>
          <p:cNvSpPr/>
          <p:nvPr/>
        </p:nvSpPr>
        <p:spPr>
          <a:xfrm>
            <a:off x="661475" y="4929287"/>
            <a:ext cx="10868745" cy="1414463"/>
          </a:xfrm>
          <a:prstGeom prst="roundRect">
            <a:avLst>
              <a:gd name="adj" fmla="val 3913"/>
            </a:avLst>
          </a:prstGeom>
          <a:solidFill>
            <a:srgbClr val="101620"/>
          </a:solidFill>
          <a:ln w="12700">
            <a:solidFill>
              <a:srgbClr val="002A80"/>
            </a:solidFill>
            <a:prstDash val="solid"/>
          </a:ln>
        </p:spPr>
      </p:sp>
      <p:sp>
        <p:nvSpPr>
          <p:cNvPr id="34" name="Shape 27"/>
          <p:cNvSpPr/>
          <p:nvPr/>
        </p:nvSpPr>
        <p:spPr>
          <a:xfrm>
            <a:off x="674175" y="4941987"/>
            <a:ext cx="5421673" cy="694531"/>
          </a:xfrm>
          <a:custGeom>
            <a:avLst/>
            <a:gdLst/>
            <a:ahLst/>
            <a:cxnLst/>
            <a:rect l="l" t="t" r="r" b="b"/>
            <a:pathLst>
              <a:path w="5421673" h="694531">
                <a:moveTo>
                  <a:pt x="46129" y="0"/>
                </a:moveTo>
                <a:lnTo>
                  <a:pt x="5421673" y="0"/>
                </a:lnTo>
                <a:lnTo>
                  <a:pt x="5421673" y="694531"/>
                </a:lnTo>
                <a:lnTo>
                  <a:pt x="0" y="694531"/>
                </a:lnTo>
                <a:lnTo>
                  <a:pt x="0" y="46130"/>
                </a:lnTo>
                <a:arcTo hR="46130" wR="46129" stAng="10800000" swAng="5400000"/>
                <a:close/>
              </a:path>
            </a:pathLst>
          </a:custGeom>
          <a:solidFill>
            <a:srgbClr val="101620"/>
          </a:solidFill>
          <a:ln/>
        </p:spPr>
      </p:sp>
      <p:sp>
        <p:nvSpPr>
          <p:cNvPr id="35" name="Text 28"/>
          <p:cNvSpPr/>
          <p:nvPr/>
        </p:nvSpPr>
        <p:spPr>
          <a:xfrm>
            <a:off x="805934" y="5073749"/>
            <a:ext cx="5158155"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716,049</a:t>
            </a:r>
            <a:endParaRPr lang="en-US" sz="1250" dirty="0"/>
          </a:p>
        </p:txBody>
      </p:sp>
      <p:sp>
        <p:nvSpPr>
          <p:cNvPr id="36" name="Text 29"/>
          <p:cNvSpPr/>
          <p:nvPr/>
        </p:nvSpPr>
        <p:spPr>
          <a:xfrm>
            <a:off x="805934" y="5350867"/>
            <a:ext cx="5158155" cy="153888"/>
          </a:xfrm>
          <a:prstGeom prst="rect">
            <a:avLst/>
          </a:prstGeom>
          <a:noFill/>
          <a:ln/>
        </p:spPr>
        <p:txBody>
          <a:bodyPr wrap="none" lIns="0" tIns="0" rIns="0" bIns="0" rtlCol="0" anchor="t"/>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Total records analyzed</a:t>
            </a:r>
            <a:endParaRPr lang="en-US" sz="1000" dirty="0"/>
          </a:p>
        </p:txBody>
      </p:sp>
      <p:sp>
        <p:nvSpPr>
          <p:cNvPr id="37" name="Shape 30"/>
          <p:cNvSpPr/>
          <p:nvPr/>
        </p:nvSpPr>
        <p:spPr>
          <a:xfrm>
            <a:off x="6095848" y="4941987"/>
            <a:ext cx="5421673" cy="694531"/>
          </a:xfrm>
          <a:custGeom>
            <a:avLst/>
            <a:gdLst/>
            <a:ahLst/>
            <a:cxnLst/>
            <a:rect l="l" t="t" r="r" b="b"/>
            <a:pathLst>
              <a:path w="5421673" h="694531">
                <a:moveTo>
                  <a:pt x="0" y="0"/>
                </a:moveTo>
                <a:lnTo>
                  <a:pt x="5375544" y="0"/>
                </a:lnTo>
                <a:arcTo hR="46130" wR="46129" stAng="16200000" swAng="5400000"/>
                <a:lnTo>
                  <a:pt x="5421673" y="694531"/>
                </a:lnTo>
                <a:lnTo>
                  <a:pt x="0" y="694531"/>
                </a:lnTo>
                <a:lnTo>
                  <a:pt x="0" y="0"/>
                </a:lnTo>
                <a:close/>
              </a:path>
            </a:pathLst>
          </a:custGeom>
          <a:solidFill>
            <a:srgbClr val="101620"/>
          </a:solidFill>
          <a:ln/>
        </p:spPr>
      </p:sp>
      <p:sp>
        <p:nvSpPr>
          <p:cNvPr id="38" name="Shape 31"/>
          <p:cNvSpPr/>
          <p:nvPr/>
        </p:nvSpPr>
        <p:spPr>
          <a:xfrm>
            <a:off x="6095848" y="4941987"/>
            <a:ext cx="19050" cy="694531"/>
          </a:xfrm>
          <a:prstGeom prst="roundRect">
            <a:avLst>
              <a:gd name="adj" fmla="val 49999"/>
            </a:avLst>
          </a:prstGeom>
          <a:solidFill>
            <a:srgbClr val="002A80"/>
          </a:solidFill>
          <a:ln/>
        </p:spPr>
      </p:sp>
      <p:sp>
        <p:nvSpPr>
          <p:cNvPr id="39" name="Text 32"/>
          <p:cNvSpPr/>
          <p:nvPr/>
        </p:nvSpPr>
        <p:spPr>
          <a:xfrm>
            <a:off x="6227607" y="5073749"/>
            <a:ext cx="5158155"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5 Datasets</a:t>
            </a:r>
            <a:endParaRPr lang="en-US" sz="1250" dirty="0"/>
          </a:p>
        </p:txBody>
      </p:sp>
      <p:sp>
        <p:nvSpPr>
          <p:cNvPr id="40" name="Text 33"/>
          <p:cNvSpPr/>
          <p:nvPr/>
        </p:nvSpPr>
        <p:spPr>
          <a:xfrm>
            <a:off x="6227607" y="5350867"/>
            <a:ext cx="5158155" cy="153888"/>
          </a:xfrm>
          <a:prstGeom prst="rect">
            <a:avLst/>
          </a:prstGeom>
          <a:noFill/>
          <a:ln/>
        </p:spPr>
        <p:txBody>
          <a:bodyPr wrap="none" lIns="0" tIns="0" rIns="0" bIns="0" rtlCol="0" anchor="t"/>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Coverage, incidence, cases, introduction, schedule</a:t>
            </a:r>
            <a:endParaRPr lang="en-US" sz="1000" dirty="0"/>
          </a:p>
        </p:txBody>
      </p:sp>
      <p:sp>
        <p:nvSpPr>
          <p:cNvPr id="41" name="Shape 34"/>
          <p:cNvSpPr/>
          <p:nvPr/>
        </p:nvSpPr>
        <p:spPr>
          <a:xfrm>
            <a:off x="674175" y="5636518"/>
            <a:ext cx="5421673" cy="694531"/>
          </a:xfrm>
          <a:custGeom>
            <a:avLst/>
            <a:gdLst/>
            <a:ahLst/>
            <a:cxnLst/>
            <a:rect l="l" t="t" r="r" b="b"/>
            <a:pathLst>
              <a:path w="5421673" h="694531">
                <a:moveTo>
                  <a:pt x="0" y="0"/>
                </a:moveTo>
                <a:lnTo>
                  <a:pt x="5421673" y="0"/>
                </a:lnTo>
                <a:lnTo>
                  <a:pt x="5421673" y="694531"/>
                </a:lnTo>
                <a:lnTo>
                  <a:pt x="46129" y="694531"/>
                </a:lnTo>
                <a:arcTo hR="46130" wR="46129" stAng="5400000" swAng="5400000"/>
                <a:lnTo>
                  <a:pt x="0" y="0"/>
                </a:lnTo>
                <a:close/>
              </a:path>
            </a:pathLst>
          </a:custGeom>
          <a:solidFill>
            <a:srgbClr val="101620"/>
          </a:solidFill>
          <a:ln/>
        </p:spPr>
      </p:sp>
      <p:sp>
        <p:nvSpPr>
          <p:cNvPr id="42" name="Shape 35"/>
          <p:cNvSpPr/>
          <p:nvPr/>
        </p:nvSpPr>
        <p:spPr>
          <a:xfrm>
            <a:off x="674175" y="5636518"/>
            <a:ext cx="5421673" cy="19050"/>
          </a:xfrm>
          <a:prstGeom prst="roundRect">
            <a:avLst>
              <a:gd name="adj" fmla="val 49999"/>
            </a:avLst>
          </a:prstGeom>
          <a:solidFill>
            <a:srgbClr val="002A80"/>
          </a:solidFill>
          <a:ln/>
        </p:spPr>
      </p:sp>
      <p:sp>
        <p:nvSpPr>
          <p:cNvPr id="43" name="Text 36"/>
          <p:cNvSpPr/>
          <p:nvPr/>
        </p:nvSpPr>
        <p:spPr>
          <a:xfrm>
            <a:off x="805934" y="5768280"/>
            <a:ext cx="5158155"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10+ Chart Types</a:t>
            </a:r>
            <a:endParaRPr lang="en-US" sz="1250" dirty="0"/>
          </a:p>
        </p:txBody>
      </p:sp>
      <p:sp>
        <p:nvSpPr>
          <p:cNvPr id="44" name="Text 37"/>
          <p:cNvSpPr/>
          <p:nvPr/>
        </p:nvSpPr>
        <p:spPr>
          <a:xfrm>
            <a:off x="805934" y="6045398"/>
            <a:ext cx="5158155" cy="153888"/>
          </a:xfrm>
          <a:prstGeom prst="rect">
            <a:avLst/>
          </a:prstGeom>
          <a:noFill/>
          <a:ln/>
        </p:spPr>
        <p:txBody>
          <a:bodyPr wrap="none" lIns="0" tIns="0" rIns="0" bIns="0" rtlCol="0" anchor="t"/>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Bar, pie, line, scatter, heatmap, violin, box, histogram</a:t>
            </a:r>
            <a:endParaRPr lang="en-US" sz="1000" dirty="0"/>
          </a:p>
        </p:txBody>
      </p:sp>
      <p:sp>
        <p:nvSpPr>
          <p:cNvPr id="45" name="Shape 38"/>
          <p:cNvSpPr/>
          <p:nvPr/>
        </p:nvSpPr>
        <p:spPr>
          <a:xfrm>
            <a:off x="6095848" y="5636518"/>
            <a:ext cx="5421673" cy="694531"/>
          </a:xfrm>
          <a:custGeom>
            <a:avLst/>
            <a:gdLst/>
            <a:ahLst/>
            <a:cxnLst/>
            <a:rect l="l" t="t" r="r" b="b"/>
            <a:pathLst>
              <a:path w="5421673" h="694531">
                <a:moveTo>
                  <a:pt x="0" y="0"/>
                </a:moveTo>
                <a:lnTo>
                  <a:pt x="5421673" y="0"/>
                </a:lnTo>
                <a:lnTo>
                  <a:pt x="5421673" y="648401"/>
                </a:lnTo>
                <a:arcTo hR="46130" wR="46129" stAng="0" swAng="5400000"/>
                <a:lnTo>
                  <a:pt x="0" y="694531"/>
                </a:lnTo>
                <a:lnTo>
                  <a:pt x="0" y="0"/>
                </a:lnTo>
                <a:close/>
              </a:path>
            </a:pathLst>
          </a:custGeom>
          <a:solidFill>
            <a:srgbClr val="101620"/>
          </a:solidFill>
          <a:ln/>
        </p:spPr>
      </p:sp>
      <p:sp>
        <p:nvSpPr>
          <p:cNvPr id="46" name="Shape 39"/>
          <p:cNvSpPr/>
          <p:nvPr/>
        </p:nvSpPr>
        <p:spPr>
          <a:xfrm>
            <a:off x="6095848" y="5636518"/>
            <a:ext cx="19050" cy="694531"/>
          </a:xfrm>
          <a:prstGeom prst="roundRect">
            <a:avLst>
              <a:gd name="adj" fmla="val 49999"/>
            </a:avLst>
          </a:prstGeom>
          <a:solidFill>
            <a:srgbClr val="002A80"/>
          </a:solidFill>
          <a:ln/>
        </p:spPr>
      </p:sp>
      <p:sp>
        <p:nvSpPr>
          <p:cNvPr id="47" name="Shape 40"/>
          <p:cNvSpPr/>
          <p:nvPr/>
        </p:nvSpPr>
        <p:spPr>
          <a:xfrm>
            <a:off x="6095848" y="5636518"/>
            <a:ext cx="5421673" cy="19050"/>
          </a:xfrm>
          <a:prstGeom prst="roundRect">
            <a:avLst>
              <a:gd name="adj" fmla="val 49999"/>
            </a:avLst>
          </a:prstGeom>
          <a:solidFill>
            <a:srgbClr val="002A80"/>
          </a:solidFill>
          <a:ln/>
        </p:spPr>
      </p:sp>
      <p:sp>
        <p:nvSpPr>
          <p:cNvPr id="48" name="Text 41"/>
          <p:cNvSpPr/>
          <p:nvPr/>
        </p:nvSpPr>
        <p:spPr>
          <a:xfrm>
            <a:off x="6227607" y="5768280"/>
            <a:ext cx="5158155" cy="214114"/>
          </a:xfrm>
          <a:prstGeom prst="rect">
            <a:avLst/>
          </a:prstGeom>
          <a:noFill/>
          <a:ln/>
        </p:spPr>
        <p:txBody>
          <a:bodyPr wrap="none" lIns="0" tIns="0" rIns="0" bIns="0" rtlCol="0" anchor="t"/>
          <a:lstStyle/>
          <a:p>
            <a:pPr algn="l" indent="0" marL="0">
              <a:lnSpc>
                <a:spcPct val="108000"/>
              </a:lnSpc>
              <a:buNone/>
            </a:pPr>
            <a:r>
              <a:rPr lang="en-US" sz="1250" b="1" spc="-26" kern="0" dirty="0">
                <a:solidFill>
                  <a:srgbClr val="EBEDF0"/>
                </a:solidFill>
                <a:latin typeface="Geist Bold" pitchFamily="34" charset="0"/>
                <a:ea typeface="Geist Bold" pitchFamily="34" charset="-122"/>
                <a:cs typeface="Geist Bold" pitchFamily="34" charset="-120"/>
              </a:rPr>
              <a:t>All WHO Regions</a:t>
            </a:r>
            <a:endParaRPr lang="en-US" sz="1250" dirty="0"/>
          </a:p>
        </p:txBody>
      </p:sp>
      <p:sp>
        <p:nvSpPr>
          <p:cNvPr id="49" name="Text 42"/>
          <p:cNvSpPr/>
          <p:nvPr/>
        </p:nvSpPr>
        <p:spPr>
          <a:xfrm>
            <a:off x="6227607" y="6045398"/>
            <a:ext cx="5158155" cy="153888"/>
          </a:xfrm>
          <a:prstGeom prst="rect">
            <a:avLst/>
          </a:prstGeom>
          <a:noFill/>
          <a:ln/>
        </p:spPr>
        <p:txBody>
          <a:bodyPr wrap="none" lIns="0" tIns="0" rIns="0" bIns="0" rtlCol="0" anchor="t"/>
          <a:lstStyle/>
          <a:p>
            <a:pPr algn="l" indent="0" marL="0">
              <a:lnSpc>
                <a:spcPct val="97000"/>
              </a:lnSpc>
              <a:buNone/>
            </a:pPr>
            <a:r>
              <a:rPr lang="en-US" sz="1000" dirty="0">
                <a:solidFill>
                  <a:srgbClr val="EBEDF0"/>
                </a:solidFill>
                <a:latin typeface="Geist" pitchFamily="34" charset="0"/>
                <a:ea typeface="Geist" pitchFamily="34" charset="-122"/>
                <a:cs typeface="Geist" pitchFamily="34" charset="-120"/>
              </a:rPr>
              <a:t>Global geographic scope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2026-09-25T17:18:37Z</dcterms:created>
  <dcterms:modified xsi:type="dcterms:W3CDTF">2026-09-25T17:18:37Z</dcterms:modified>
</cp:coreProperties>
</file>